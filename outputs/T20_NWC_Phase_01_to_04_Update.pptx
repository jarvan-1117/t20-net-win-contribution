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b2b01771834df9" /><Relationship Type="http://schemas.openxmlformats.org/officeDocument/2006/relationships/extended-properties" Target="/docProps/app.xml" Id="Re464c5f2e1fc4817" /><Relationship Type="http://schemas.openxmlformats.org/officeDocument/2006/relationships/officeDocument" Target="/ppt/presentation.xml" Id="R625594145968405c" /></Relationships>
</file>

<file path=ppt/presentation.xml><?xml version="1.0" encoding="utf-8"?>
<p:presentation xmlns:p="http://schemas.openxmlformats.org/presentationml/2006/main">
  <p:sldMasterIdLst>
    <p:sldMasterId xmlns:r="http://schemas.openxmlformats.org/officeDocument/2006/relationships" id="2147483648" r:id="Rb1f77560bd324000"/>
  </p:sldMasterIdLst>
  <p:notesMasterIdLst>
    <p:notesMasterId xmlns:r="http://schemas.openxmlformats.org/officeDocument/2006/relationships" r:id="R0e3fb8ed39cd454d"/>
  </p:notesMasterIdLst>
  <p:sldIdLst>
    <p:sldId xmlns:r="http://schemas.openxmlformats.org/officeDocument/2006/relationships" id="256" r:id="R1a992f7e5d844cd9"/>
    <p:sldId xmlns:r="http://schemas.openxmlformats.org/officeDocument/2006/relationships" id="257" r:id="R935f6e67e8ef4bc0"/>
    <p:sldId xmlns:r="http://schemas.openxmlformats.org/officeDocument/2006/relationships" id="258" r:id="Rc4e0562f71b14c74"/>
    <p:sldId xmlns:r="http://schemas.openxmlformats.org/officeDocument/2006/relationships" id="259" r:id="Rbee0345e991846f7"/>
    <p:sldId xmlns:r="http://schemas.openxmlformats.org/officeDocument/2006/relationships" id="260" r:id="R3838049466ac4f9c"/>
    <p:sldId xmlns:r="http://schemas.openxmlformats.org/officeDocument/2006/relationships" id="261" r:id="R101282e62ef04e44"/>
    <p:sldId xmlns:r="http://schemas.openxmlformats.org/officeDocument/2006/relationships" id="262" r:id="R027eec8d2f244e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b5da235e3e4841" /><Relationship Type="http://schemas.openxmlformats.org/officeDocument/2006/relationships/slideMaster" Target="/ppt/slideMasters/slideMaster1.xml" Id="Rb1f77560bd324000" /><Relationship Type="http://schemas.openxmlformats.org/officeDocument/2006/relationships/notesMaster" Target="/ppt/notesMasters/notesMaster1.xml" Id="R0e3fb8ed39cd454d" /><Relationship Type="http://schemas.openxmlformats.org/officeDocument/2006/relationships/presProps" Target="/ppt/presProps.xml" Id="Re8d3a1f8234242ca" /><Relationship Type="http://schemas.openxmlformats.org/officeDocument/2006/relationships/tableStyles" Target="/ppt/tableStyles.xml" Id="R66cdbabcc2dd4d32" /><Relationship Type="http://schemas.openxmlformats.org/officeDocument/2006/relationships/slide" Target="/ppt/slides/slide1.xml" Id="R1a992f7e5d844cd9" /><Relationship Type="http://schemas.openxmlformats.org/officeDocument/2006/relationships/slide" Target="/ppt/slides/slide2.xml" Id="R935f6e67e8ef4bc0" /><Relationship Type="http://schemas.openxmlformats.org/officeDocument/2006/relationships/slide" Target="/ppt/slides/slide3.xml" Id="Rc4e0562f71b14c74" /><Relationship Type="http://schemas.openxmlformats.org/officeDocument/2006/relationships/slide" Target="/ppt/slides/slide4.xml" Id="Rbee0345e991846f7" /><Relationship Type="http://schemas.openxmlformats.org/officeDocument/2006/relationships/slide" Target="/ppt/slides/slide5.xml" Id="R3838049466ac4f9c" /><Relationship Type="http://schemas.openxmlformats.org/officeDocument/2006/relationships/slide" Target="/ppt/slides/slide6.xml" Id="R101282e62ef04e44" /><Relationship Type="http://schemas.openxmlformats.org/officeDocument/2006/relationships/slide" Target="/ppt/slides/slide7.xml" Id="R027eec8d2f244e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2e6dd979c04f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a0476ce310446a" /><Relationship Type="http://schemas.openxmlformats.org/officeDocument/2006/relationships/notesMaster" Target="/ppt/notesMasters/notesMaster1.xml" Id="Rf2404bacde5e4f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035d53a5174ecc" /><Relationship Type="http://schemas.openxmlformats.org/officeDocument/2006/relationships/notesMaster" Target="/ppt/notesMasters/notesMaster1.xml" Id="Rb8a4425935cd46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3b0d1ef8bd4539" /><Relationship Type="http://schemas.openxmlformats.org/officeDocument/2006/relationships/notesMaster" Target="/ppt/notesMasters/notesMaster1.xml" Id="R6e764f19231d41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ddfd6718a24a56" /><Relationship Type="http://schemas.openxmlformats.org/officeDocument/2006/relationships/notesMaster" Target="/ppt/notesMasters/notesMaster1.xml" Id="R885abcbc086848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67007b689b429f" /><Relationship Type="http://schemas.openxmlformats.org/officeDocument/2006/relationships/notesMaster" Target="/ppt/notesMasters/notesMaster1.xml" Id="R0d8bd989490d4c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f14d5148684301" /><Relationship Type="http://schemas.openxmlformats.org/officeDocument/2006/relationships/notesMaster" Target="/ppt/notesMasters/notesMaster1.xml" Id="Rf0741046d7804c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f17ea8fd654ecf" /><Relationship Type="http://schemas.openxmlformats.org/officeDocument/2006/relationships/notesMaster" Target="/ppt/notesMasters/notesMaster1.xml" Id="Rce22863aaa2b4f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today I will provide a concise update on Phases One to Four of my T20 Net Win Contribution project. The project builds an in-play win probability model from international T20 ball-by-ball data. I will cover the data foundation, the feature design, and the model-selection result.</a:t>
            </a:r>
          </a:p>
          <a:p xmlns:a="http://schemas.openxmlformats.org/drawingml/2006/main">
            <a:r>
              <a:t/>
            </a:r>
          </a:p>
          <a:p xmlns:a="http://schemas.openxmlformats.org/drawingml/2006/main">
            <a:r>
              <a:t>[Sources]</a:t>
            </a:r>
          </a:p>
          <a:p xmlns:a="http://schemas.openxmlformats.org/drawingml/2006/main">
            <a:r>
              <a:t>Project data audit, feature engineering, and model-training notebooks;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is sequential. First I established a clean event stream. Second, I created the live match-state features. Third, I added strictly historical player, team and venue context. Fourth, I compared candidate models using chronological validation and log loss.</a:t>
            </a:r>
          </a:p>
          <a:p xmlns:a="http://schemas.openxmlformats.org/drawingml/2006/main">
            <a:r>
              <a:t/>
            </a:r>
          </a:p>
          <a:p xmlns:a="http://schemas.openxmlformats.org/drawingml/2006/main">
            <a:r>
              <a:t>[Sources]</a:t>
            </a:r>
          </a:p>
          <a:p xmlns:a="http://schemas.openxmlformats.org/drawingml/2006/main">
            <a:r>
              <a:t>Project data audit, feature engineering, and model-training notebooks;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One audited 5,602 source matches and retained 4,975 standard, binary-outcome T20I matches, containing 1.156 million recorded events. I excluded altered or non-binary match structures, such as DLS matches, ties, no-results and super overs. A key finding was that displayed over and ball coordinates can repeat after wides and no-balls, so all later processing preserves the original source order.</a:t>
            </a:r>
          </a:p>
          <a:p xmlns:a="http://schemas.openxmlformats.org/drawingml/2006/main">
            <a:r>
              <a:t/>
            </a:r>
          </a:p>
          <a:p xmlns:a="http://schemas.openxmlformats.org/drawingml/2006/main">
            <a:r>
              <a:t>[Sources]</a:t>
            </a:r>
          </a:p>
          <a:p xmlns:a="http://schemas.openxmlformats.org/drawingml/2006/main">
            <a:r>
              <a:t>Project data audit, feature engineering, and model-training notebooks;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Phase Two, I created post-delivery game-state variables such as score, wickets, legal balls remaining and innings phase. The first-innings tables physically exclude target and required-run-rate fields, preventing second-innings leakage. In Phase Three, I added 23 historical predictors. Every historical value uses only matches on strictly earlier dates, so the current match and same-date matches cannot leak into the features.</a:t>
            </a:r>
          </a:p>
          <a:p xmlns:a="http://schemas.openxmlformats.org/drawingml/2006/main">
            <a:r>
              <a:t/>
            </a:r>
          </a:p>
          <a:p xmlns:a="http://schemas.openxmlformats.org/drawingml/2006/main">
            <a:r>
              <a:t>[Sources]</a:t>
            </a:r>
          </a:p>
          <a:p xmlns:a="http://schemas.openxmlformats.org/drawingml/2006/main">
            <a:r>
              <a:t>Project data audit, feature engineering, and model-training notebooks;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modelling, I used chronological 70, 15 and 15 percent splits at whole-match level, with all matches on the same date kept together. I compared a naïve training-prevalence baseline, Logistic Regression and Random Forest. All preprocessing was learned on the training split only. I used validation log loss as the only selection metric, leaving the test period untouched until final evaluation.</a:t>
            </a:r>
          </a:p>
          <a:p xmlns:a="http://schemas.openxmlformats.org/drawingml/2006/main">
            <a:r>
              <a:t/>
            </a:r>
          </a:p>
          <a:p xmlns:a="http://schemas.openxmlformats.org/drawingml/2006/main">
            <a:r>
              <a:t>[Sources]</a:t>
            </a:r>
          </a:p>
          <a:p xmlns:a="http://schemas.openxmlformats.org/drawingml/2006/main">
            <a:r>
              <a:t>Project data audit, feature engineering, and model-training notebooks;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final held-out test log loss. Logistic Regression achieved the lowest validation log loss in all four gender-by-innings tracks, so it was selected before test evaluation. The test data confirmed the same ranking. Random Forest clearly improved on the naïve baseline, but it did not improve on Logistic Regression in this configuration.</a:t>
            </a:r>
          </a:p>
          <a:p xmlns:a="http://schemas.openxmlformats.org/drawingml/2006/main">
            <a:r>
              <a:t/>
            </a:r>
          </a:p>
          <a:p xmlns:a="http://schemas.openxmlformats.org/drawingml/2006/main">
            <a:r>
              <a:t>[Sources]</a:t>
            </a:r>
          </a:p>
          <a:p xmlns:a="http://schemas.openxmlformats.org/drawingml/2006/main">
            <a:r>
              <a:t>Project data audit, feature engineering, and model-training notebooks;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summarise, Phases One to Four now provide a reproducible win-probability foundation. The data has been audited, the features are protected against innings and time leakage, and Logistic Regression is selected consistently across all four tracks using log loss. The next step is to use consecutive probabilities to calculate player-level Net Win Contribution. Thank you, and I welcome feedback on the modelling scope and attribution design.</a:t>
            </a:r>
          </a:p>
          <a:p xmlns:a="http://schemas.openxmlformats.org/drawingml/2006/main">
            <a:r>
              <a:t/>
            </a:r>
          </a:p>
          <a:p xmlns:a="http://schemas.openxmlformats.org/drawingml/2006/main">
            <a:r>
              <a:t>[Sources]</a:t>
            </a:r>
          </a:p>
          <a:p xmlns:a="http://schemas.openxmlformats.org/drawingml/2006/main">
            <a:r>
              <a:t>Project data audit, feature engineering, and model-training notebooks;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36eb3d82ae46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05fc71ebba4867" /><Relationship Type="http://schemas.openxmlformats.org/officeDocument/2006/relationships/slideLayout" Target="/ppt/slideLayouts/slideLayout1.xml" Id="Rd3dfa3c1b8c447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dfa3c1b8c447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487d8858f845f8" /><Relationship Type="http://schemas.openxmlformats.org/officeDocument/2006/relationships/notesSlide" Target="/ppt/notesSlides/notesSlide1.xml" Id="Rf67d6b01c5a840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a89e98e7b744ec" /><Relationship Type="http://schemas.openxmlformats.org/officeDocument/2006/relationships/notesSlide" Target="/ppt/notesSlides/notesSlide2.xml" Id="R2e4662da5c3d48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d11175f3214faa" /><Relationship Type="http://schemas.openxmlformats.org/officeDocument/2006/relationships/notesSlide" Target="/ppt/notesSlides/notesSlide3.xml" Id="R0ec13ef3f3c14e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fdae88fe744bc1" /><Relationship Type="http://schemas.openxmlformats.org/officeDocument/2006/relationships/notesSlide" Target="/ppt/notesSlides/notesSlide4.xml" Id="R9f7fa1529fa044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1d04eed2cb4033" /><Relationship Type="http://schemas.openxmlformats.org/officeDocument/2006/relationships/notesSlide" Target="/ppt/notesSlides/notesSlide5.xml" Id="R59dca391950c44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df000efb084ea2" /><Relationship Type="http://schemas.openxmlformats.org/officeDocument/2006/relationships/chart" Target="/ppt/slides/charts/chart1.xml" Id="Re08344ef5e9447b7" /><Relationship Type="http://schemas.openxmlformats.org/officeDocument/2006/relationships/notesSlide" Target="/ppt/notesSlides/notesSlide6.xml" Id="Rd41cbee1c99a4e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cdb0bfc3744fad" /><Relationship Type="http://schemas.openxmlformats.org/officeDocument/2006/relationships/notesSlide" Target="/ppt/notesSlides/notesSlide7.xml" Id="Rc2d5efc3267348ed" /></Relationships>
</file>

<file path=ppt/slides/charts/chart1.xml><?xml version="1.0" encoding="utf-8"?>
<c:chartSpace xmlns:c="http://schemas.openxmlformats.org/drawingml/2006/chart">
  <c:lang val="en-US"/>
  <c:chart>
    <c:plotArea>
      <c:barChart>
        <c:barDir val="col"/>
        <c:varyColors val="0"/>
        <c:ser>
          <c:idx val="0"/>
          <c:order val="0"/>
          <c:tx>
            <c:v>Naïve</c:v>
          </c:tx>
          <c:spPr>
            <a:solidFill xmlns:a="http://schemas.openxmlformats.org/drawingml/2006/main">
              <a:srgbClr val="A5A5A5"/>
            </a:solidFill>
          </c:spPr>
          <c:cat>
            <c:strLit>
              <c:ptCount val="4"/>
              <c:pt idx="0">
                <c:v>Female I1</c:v>
              </c:pt>
              <c:pt idx="1">
                <c:v>Female I2</c:v>
              </c:pt>
              <c:pt idx="2">
                <c:v>Male I1</c:v>
              </c:pt>
              <c:pt idx="3">
                <c:v>Male I2</c:v>
              </c:pt>
            </c:strLit>
          </c:cat>
          <c:val>
            <c:numLit>
              <c:formatCode>General</c:formatCode>
              <c:ptCount val="4"/>
              <c:pt idx="0">
                <c:v>0.691459</c:v>
              </c:pt>
              <c:pt idx="1">
                <c:v>0.675578</c:v>
              </c:pt>
              <c:pt idx="2">
                <c:v>0.693698</c:v>
              </c:pt>
              <c:pt idx="3">
                <c:v>0.688326</c:v>
              </c:pt>
            </c:numLit>
          </c:val>
        </c:ser>
        <c:ser>
          <c:idx val="1"/>
          <c:order val="1"/>
          <c:tx>
            <c:v>Logistic Regression</c:v>
          </c:tx>
          <c:spPr>
            <a:solidFill xmlns:a="http://schemas.openxmlformats.org/drawingml/2006/main">
              <a:srgbClr val="3D8DFF"/>
            </a:solidFill>
          </c:spPr>
          <c:cat>
            <c:strLit>
              <c:ptCount val="4"/>
              <c:pt idx="0">
                <c:v>Female I1</c:v>
              </c:pt>
              <c:pt idx="1">
                <c:v>Female I2</c:v>
              </c:pt>
              <c:pt idx="2">
                <c:v>Male I1</c:v>
              </c:pt>
              <c:pt idx="3">
                <c:v>Male I2</c:v>
              </c:pt>
            </c:strLit>
          </c:cat>
          <c:val>
            <c:numLit>
              <c:formatCode>General</c:formatCode>
              <c:ptCount val="4"/>
              <c:pt idx="0">
                <c:v>0.505404</c:v>
              </c:pt>
              <c:pt idx="1">
                <c:v>0.271658</c:v>
              </c:pt>
              <c:pt idx="2">
                <c:v>0.501076</c:v>
              </c:pt>
              <c:pt idx="3">
                <c:v>0.285912</c:v>
              </c:pt>
            </c:numLit>
          </c:val>
        </c:ser>
        <c:ser>
          <c:idx val="2"/>
          <c:order val="2"/>
          <c:tx>
            <c:v>Random Forest</c:v>
          </c:tx>
          <c:spPr>
            <a:solidFill xmlns:a="http://schemas.openxmlformats.org/drawingml/2006/main">
              <a:srgbClr val="ED7D31"/>
            </a:solidFill>
          </c:spPr>
          <c:cat>
            <c:strLit>
              <c:ptCount val="4"/>
              <c:pt idx="0">
                <c:v>Female I1</c:v>
              </c:pt>
              <c:pt idx="1">
                <c:v>Female I2</c:v>
              </c:pt>
              <c:pt idx="2">
                <c:v>Male I1</c:v>
              </c:pt>
              <c:pt idx="3">
                <c:v>Male I2</c:v>
              </c:pt>
            </c:strLit>
          </c:cat>
          <c:val>
            <c:numLit>
              <c:formatCode>General</c:formatCode>
              <c:ptCount val="4"/>
              <c:pt idx="0">
                <c:v>0.509349</c:v>
              </c:pt>
              <c:pt idx="1">
                <c:v>0.281555</c:v>
              </c:pt>
              <c:pt idx="2">
                <c:v>0.509687</c:v>
              </c:pt>
              <c:pt idx="3">
                <c:v>0.297197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7E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legend>
      <c:legendPos val="b"/>
      <c:overlay val="0"/>
    </c:legend>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211A1E-43B6-41A3-A231-784AE51A2D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365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018938-2D4E-4CE4-AD45-4F0E8046D2CC}"/>
              </a:ext>
            </a:extLst>
          </p:cNvPr>
          <p:cNvSpPr>
            <a:spLocks xmlns:a="http://schemas.openxmlformats.org/drawingml/2006/main" noGrp="1"/>
          </p:cNvSpPr>
          <p:nvPr/>
        </p:nvSpPr>
        <p:spPr>
          <a:xfrm xmlns:a="http://schemas.openxmlformats.org/drawingml/2006/main">
            <a:off x="685800" y="1285875"/>
            <a:ext cx="857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a:solidFill>
                  <a:srgbClr val="FFFFFF"/>
                </a:solidFill>
              </a:defRPr>
            </a:pPr>
            <a:r>
              <a:rPr sz="4050" b="1">
                <a:solidFill>
                  <a:srgbClr val="FFFFFF"/>
                </a:solidFill>
              </a:rPr>
              <a:t>T20 Net Win Contribution</a:t>
            </a:r>
          </a:p>
        </p:txBody>
      </p:sp>
      <p:sp>
        <p:nvSpPr>
          <p:cNvPr id="3" name="">
            <a:extLst xmlns:a="http://schemas.openxmlformats.org/drawingml/2006/main">
              <a:ext uri="{FF2B5EF4-FFF2-40B4-BE49-F238E27FC236}">
                <a16:creationId xmlns:a16="http://schemas.microsoft.com/office/drawing/2014/main" id="{B787844E-C237-41EF-AAA4-04A91B9AC07C}"/>
              </a:ext>
            </a:extLst>
          </p:cNvPr>
          <p:cNvSpPr>
            <a:spLocks xmlns:a="http://schemas.openxmlformats.org/drawingml/2006/main" noGrp="1"/>
          </p:cNvSpPr>
          <p:nvPr/>
        </p:nvSpPr>
        <p:spPr>
          <a:xfrm xmlns:a="http://schemas.openxmlformats.org/drawingml/2006/main">
            <a:off x="714375" y="2190750"/>
            <a:ext cx="628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0">
                <a:solidFill>
                  <a:srgbClr val="BFE7FF"/>
                </a:solidFill>
              </a:defRPr>
            </a:pPr>
            <a:r>
              <a:rPr sz="2250" b="0">
                <a:solidFill>
                  <a:srgbClr val="BFE7FF"/>
                </a:solidFill>
              </a:rPr>
              <a:t>Phase 01–04 project update</a:t>
            </a:r>
          </a:p>
        </p:txBody>
      </p:sp>
      <p:sp>
        <p:nvSpPr>
          <p:cNvPr id="4" name="">
            <a:extLst xmlns:a="http://schemas.openxmlformats.org/drawingml/2006/main">
              <a:ext uri="{FF2B5EF4-FFF2-40B4-BE49-F238E27FC236}">
                <a16:creationId xmlns:a16="http://schemas.microsoft.com/office/drawing/2014/main" id="{FCA30349-C577-4FB1-944B-3481FE746BE9}"/>
              </a:ext>
            </a:extLst>
          </p:cNvPr>
          <p:cNvSpPr>
            <a:spLocks xmlns:a="http://schemas.openxmlformats.org/drawingml/2006/main" noGrp="1"/>
          </p:cNvSpPr>
          <p:nvPr/>
        </p:nvSpPr>
        <p:spPr>
          <a:xfrm xmlns:a="http://schemas.openxmlformats.org/drawingml/2006/main">
            <a:off x="714375" y="2905125"/>
            <a:ext cx="800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FFFFFF"/>
                </a:solidFill>
              </a:defRPr>
            </a:pPr>
            <a:r>
              <a:rPr sz="1500" b="0">
                <a:solidFill>
                  <a:srgbClr val="FFFFFF"/>
                </a:solidFill>
              </a:rPr>
              <a:t>Data audit  •  Feature engineering  •  Win-probability modelling</a:t>
            </a:r>
          </a:p>
        </p:txBody>
      </p:sp>
      <p:sp>
        <p:nvSpPr>
          <p:cNvPr id="5" name="">
            <a:extLst xmlns:a="http://schemas.openxmlformats.org/drawingml/2006/main">
              <a:ext uri="{FF2B5EF4-FFF2-40B4-BE49-F238E27FC236}">
                <a16:creationId xmlns:a16="http://schemas.microsoft.com/office/drawing/2014/main" id="{C3961CA7-D9A9-48F4-9044-4AF4A7258234}"/>
              </a:ext>
            </a:extLst>
          </p:cNvPr>
          <p:cNvSpPr>
            <a:spLocks xmlns:a="http://schemas.openxmlformats.org/drawingml/2006/main" noGrp="1"/>
          </p:cNvSpPr>
          <p:nvPr/>
        </p:nvSpPr>
        <p:spPr>
          <a:xfrm xmlns:a="http://schemas.openxmlformats.org/drawingml/2006/main">
            <a:off x="714375" y="3571875"/>
            <a:ext cx="1524000" cy="571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A85EA20-8B72-4C0A-8917-8847FA94D84A}"/>
              </a:ext>
            </a:extLst>
          </p:cNvPr>
          <p:cNvSpPr>
            <a:spLocks xmlns:a="http://schemas.openxmlformats.org/drawingml/2006/main" noGrp="1"/>
          </p:cNvSpPr>
          <p:nvPr/>
        </p:nvSpPr>
        <p:spPr>
          <a:xfrm xmlns:a="http://schemas.openxmlformats.org/drawingml/2006/main">
            <a:off x="714375" y="39052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DDEBF7"/>
                </a:solidFill>
              </a:defRPr>
            </a:pPr>
            <a:r>
              <a:rPr sz="1350" b="0">
                <a:solidFill>
                  <a:srgbClr val="DDEBF7"/>
                </a:solidFill>
              </a:rPr>
              <a:t>International T20 ball-by-ball analysis</a:t>
            </a:r>
          </a:p>
        </p:txBody>
      </p:sp>
    </p:spTree>
    <p:extLst>
      <p:ext uri="{BB962C8B-B14F-4D97-AF65-F5344CB8AC3E}">
        <p14:creationId xmlns:p14="http://schemas.microsoft.com/office/powerpoint/2010/main" val="13478991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896E344-CCD1-417D-A02B-6FDC087F0DD9}"/>
              </a:ext>
            </a:extLst>
          </p:cNvPr>
          <p:cNvSpPr>
            <a:spLocks xmlns:a="http://schemas.openxmlformats.org/drawingml/2006/main" noGrp="1"/>
          </p:cNvSpPr>
          <p:nvPr/>
        </p:nvSpPr>
        <p:spPr>
          <a:xfrm xmlns:a="http://schemas.openxmlformats.org/drawingml/2006/main">
            <a:off x="685800" y="4572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7365D"/>
                </a:solidFill>
              </a:defRPr>
            </a:pPr>
            <a:r>
              <a:rPr sz="2925" b="1">
                <a:solidFill>
                  <a:srgbClr val="17365D"/>
                </a:solidFill>
              </a:rPr>
              <a:t>The project builds toward a reliable in-play win probability</a:t>
            </a:r>
          </a:p>
        </p:txBody>
      </p:sp>
      <p:sp>
        <p:nvSpPr>
          <p:cNvPr id="2" name="">
            <a:extLst xmlns:a="http://schemas.openxmlformats.org/drawingml/2006/main">
              <a:ext uri="{FF2B5EF4-FFF2-40B4-BE49-F238E27FC236}">
                <a16:creationId xmlns:a16="http://schemas.microsoft.com/office/drawing/2014/main" id="{8EDE2C86-C0F7-469C-A60A-813FABF07DEF}"/>
              </a:ext>
            </a:extLst>
          </p:cNvPr>
          <p:cNvSpPr>
            <a:spLocks xmlns:a="http://schemas.openxmlformats.org/drawingml/2006/main" noGrp="1"/>
          </p:cNvSpPr>
          <p:nvPr/>
        </p:nvSpPr>
        <p:spPr>
          <a:xfrm xmlns:a="http://schemas.openxmlformats.org/drawingml/2006/main">
            <a:off x="685800" y="10668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64748B"/>
                </a:solidFill>
              </a:defRPr>
            </a:pPr>
            <a:r>
              <a:rPr sz="1350" b="0">
                <a:solidFill>
                  <a:srgbClr val="64748B"/>
                </a:solidFill>
              </a:rPr>
              <a:t>Separate models by gender and innings protect the cricket context.</a:t>
            </a:r>
          </a:p>
        </p:txBody>
      </p:sp>
      <p:sp>
        <p:nvSpPr>
          <p:cNvPr id="3" name="">
            <a:extLst xmlns:a="http://schemas.openxmlformats.org/drawingml/2006/main">
              <a:ext uri="{FF2B5EF4-FFF2-40B4-BE49-F238E27FC236}">
                <a16:creationId xmlns:a16="http://schemas.microsoft.com/office/drawing/2014/main" id="{4AFB5BA5-EF10-4542-A23E-E17ECFA8BAAE}"/>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B8C4F7-A685-4A3B-A79C-5642D51681C4}"/>
              </a:ext>
            </a:extLst>
          </p:cNvPr>
          <p:cNvSpPr>
            <a:spLocks xmlns:a="http://schemas.openxmlformats.org/drawingml/2006/main" noGrp="1"/>
          </p:cNvSpPr>
          <p:nvPr/>
        </p:nvSpPr>
        <p:spPr>
          <a:xfrm xmlns:a="http://schemas.openxmlformats.org/drawingml/2006/main">
            <a:off x="857250" y="2333625"/>
            <a:ext cx="2095500" cy="1666875"/>
          </a:xfrm>
          <a:prstGeom xmlns:a="http://schemas.openxmlformats.org/drawingml/2006/main" prst="rect">
            <a:avLst/>
          </a:prstGeom>
          <a:solidFill xmlns:a="http://schemas.openxmlformats.org/drawingml/2006/main">
            <a:srgbClr val="EAF3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9467895-5A5B-4B99-8205-EABF9A2788E7}"/>
              </a:ext>
            </a:extLst>
          </p:cNvPr>
          <p:cNvSpPr>
            <a:spLocks xmlns:a="http://schemas.openxmlformats.org/drawingml/2006/main" noGrp="1"/>
          </p:cNvSpPr>
          <p:nvPr/>
        </p:nvSpPr>
        <p:spPr>
          <a:xfrm xmlns:a="http://schemas.openxmlformats.org/drawingml/2006/main">
            <a:off x="1047750" y="2647950"/>
            <a:ext cx="1714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7365D"/>
                </a:solidFill>
              </a:defRPr>
            </a:pPr>
            <a:r>
              <a:rPr sz="1875" b="1">
                <a:solidFill>
                  <a:srgbClr val="17365D"/>
                </a:solidFill>
              </a:rPr>
              <a:t>01</a:t>
            </a:r>
          </a:p>
          <a:p xmlns:a="http://schemas.openxmlformats.org/drawingml/2006/main">
            <a:pPr>
              <a:defRPr sz="1875" b="1">
                <a:solidFill>
                  <a:srgbClr val="17365D"/>
                </a:solidFill>
              </a:defRPr>
            </a:pPr>
            <a:r>
              <a:rPr sz="1875" b="1">
                <a:solidFill>
                  <a:srgbClr val="17365D"/>
                </a:solidFill>
              </a:rPr>
              <a:t>Audit &amp; clean</a:t>
            </a:r>
          </a:p>
        </p:txBody>
      </p:sp>
      <p:sp>
        <p:nvSpPr>
          <p:cNvPr id="6" name="">
            <a:extLst xmlns:a="http://schemas.openxmlformats.org/drawingml/2006/main">
              <a:ext uri="{FF2B5EF4-FFF2-40B4-BE49-F238E27FC236}">
                <a16:creationId xmlns:a16="http://schemas.microsoft.com/office/drawing/2014/main" id="{A99C6588-C64E-491A-ABC9-0B4F5012339E}"/>
              </a:ext>
            </a:extLst>
          </p:cNvPr>
          <p:cNvSpPr>
            <a:spLocks xmlns:a="http://schemas.openxmlformats.org/drawingml/2006/main" noGrp="1"/>
          </p:cNvSpPr>
          <p:nvPr/>
        </p:nvSpPr>
        <p:spPr>
          <a:xfrm xmlns:a="http://schemas.openxmlformats.org/drawingml/2006/main">
            <a:off x="3048000" y="2905125"/>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3D8DFF"/>
                </a:solidFill>
              </a:defRPr>
            </a:pPr>
            <a:r>
              <a:rPr sz="2250" b="1">
                <a:solidFill>
                  <a:srgbClr val="3D8DFF"/>
                </a:solidFill>
              </a:rPr>
              <a:t>→</a:t>
            </a:r>
          </a:p>
        </p:txBody>
      </p:sp>
      <p:sp>
        <p:nvSpPr>
          <p:cNvPr id="7" name="">
            <a:extLst xmlns:a="http://schemas.openxmlformats.org/drawingml/2006/main">
              <a:ext uri="{FF2B5EF4-FFF2-40B4-BE49-F238E27FC236}">
                <a16:creationId xmlns:a16="http://schemas.microsoft.com/office/drawing/2014/main" id="{A283701F-BC0C-468D-B975-705D4A453251}"/>
              </a:ext>
            </a:extLst>
          </p:cNvPr>
          <p:cNvSpPr>
            <a:spLocks xmlns:a="http://schemas.openxmlformats.org/drawingml/2006/main" noGrp="1"/>
          </p:cNvSpPr>
          <p:nvPr/>
        </p:nvSpPr>
        <p:spPr>
          <a:xfrm xmlns:a="http://schemas.openxmlformats.org/drawingml/2006/main">
            <a:off x="3619500" y="2333625"/>
            <a:ext cx="2095500" cy="1666875"/>
          </a:xfrm>
          <a:prstGeom xmlns:a="http://schemas.openxmlformats.org/drawingml/2006/main" prst="rect">
            <a:avLst/>
          </a:prstGeom>
          <a:solidFill xmlns:a="http://schemas.openxmlformats.org/drawingml/2006/main">
            <a:srgbClr val="EAF3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5B937BD-0D15-47F9-A041-6B34343AFE07}"/>
              </a:ext>
            </a:extLst>
          </p:cNvPr>
          <p:cNvSpPr>
            <a:spLocks xmlns:a="http://schemas.openxmlformats.org/drawingml/2006/main" noGrp="1"/>
          </p:cNvSpPr>
          <p:nvPr/>
        </p:nvSpPr>
        <p:spPr>
          <a:xfrm xmlns:a="http://schemas.openxmlformats.org/drawingml/2006/main">
            <a:off x="3810000" y="2647950"/>
            <a:ext cx="1714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7365D"/>
                </a:solidFill>
              </a:defRPr>
            </a:pPr>
            <a:r>
              <a:rPr sz="1875" b="1">
                <a:solidFill>
                  <a:srgbClr val="17365D"/>
                </a:solidFill>
              </a:rPr>
              <a:t>02</a:t>
            </a:r>
          </a:p>
          <a:p xmlns:a="http://schemas.openxmlformats.org/drawingml/2006/main">
            <a:pPr>
              <a:defRPr sz="1875" b="1">
                <a:solidFill>
                  <a:srgbClr val="17365D"/>
                </a:solidFill>
              </a:defRPr>
            </a:pPr>
            <a:r>
              <a:rPr sz="1875" b="1">
                <a:solidFill>
                  <a:srgbClr val="17365D"/>
                </a:solidFill>
              </a:rPr>
              <a:t>Game state</a:t>
            </a:r>
          </a:p>
        </p:txBody>
      </p:sp>
      <p:sp>
        <p:nvSpPr>
          <p:cNvPr id="9" name="">
            <a:extLst xmlns:a="http://schemas.openxmlformats.org/drawingml/2006/main">
              <a:ext uri="{FF2B5EF4-FFF2-40B4-BE49-F238E27FC236}">
                <a16:creationId xmlns:a16="http://schemas.microsoft.com/office/drawing/2014/main" id="{FA7B007E-6CAF-4E91-97E2-80AB76A00B0E}"/>
              </a:ext>
            </a:extLst>
          </p:cNvPr>
          <p:cNvSpPr>
            <a:spLocks xmlns:a="http://schemas.openxmlformats.org/drawingml/2006/main" noGrp="1"/>
          </p:cNvSpPr>
          <p:nvPr/>
        </p:nvSpPr>
        <p:spPr>
          <a:xfrm xmlns:a="http://schemas.openxmlformats.org/drawingml/2006/main">
            <a:off x="5810250" y="2905125"/>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3D8DFF"/>
                </a:solidFill>
              </a:defRPr>
            </a:pPr>
            <a:r>
              <a:rPr sz="2250" b="1">
                <a:solidFill>
                  <a:srgbClr val="3D8DFF"/>
                </a:solidFill>
              </a:rPr>
              <a:t>→</a:t>
            </a:r>
          </a:p>
        </p:txBody>
      </p:sp>
      <p:sp>
        <p:nvSpPr>
          <p:cNvPr id="10" name="">
            <a:extLst xmlns:a="http://schemas.openxmlformats.org/drawingml/2006/main">
              <a:ext uri="{FF2B5EF4-FFF2-40B4-BE49-F238E27FC236}">
                <a16:creationId xmlns:a16="http://schemas.microsoft.com/office/drawing/2014/main" id="{1BC5EEC1-8646-48BC-8FFB-9ED74A046EFA}"/>
              </a:ext>
            </a:extLst>
          </p:cNvPr>
          <p:cNvSpPr>
            <a:spLocks xmlns:a="http://schemas.openxmlformats.org/drawingml/2006/main" noGrp="1"/>
          </p:cNvSpPr>
          <p:nvPr/>
        </p:nvSpPr>
        <p:spPr>
          <a:xfrm xmlns:a="http://schemas.openxmlformats.org/drawingml/2006/main">
            <a:off x="6381750" y="2333625"/>
            <a:ext cx="2095500" cy="1666875"/>
          </a:xfrm>
          <a:prstGeom xmlns:a="http://schemas.openxmlformats.org/drawingml/2006/main" prst="rect">
            <a:avLst/>
          </a:prstGeom>
          <a:solidFill xmlns:a="http://schemas.openxmlformats.org/drawingml/2006/main">
            <a:srgbClr val="EAF3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28D6A9-247C-4071-8BA8-94ADF7AF6B5B}"/>
              </a:ext>
            </a:extLst>
          </p:cNvPr>
          <p:cNvSpPr>
            <a:spLocks xmlns:a="http://schemas.openxmlformats.org/drawingml/2006/main" noGrp="1"/>
          </p:cNvSpPr>
          <p:nvPr/>
        </p:nvSpPr>
        <p:spPr>
          <a:xfrm xmlns:a="http://schemas.openxmlformats.org/drawingml/2006/main">
            <a:off x="6572250" y="2647950"/>
            <a:ext cx="1714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7365D"/>
                </a:solidFill>
              </a:defRPr>
            </a:pPr>
            <a:r>
              <a:rPr sz="1875" b="1">
                <a:solidFill>
                  <a:srgbClr val="17365D"/>
                </a:solidFill>
              </a:rPr>
              <a:t>03</a:t>
            </a:r>
          </a:p>
          <a:p xmlns:a="http://schemas.openxmlformats.org/drawingml/2006/main">
            <a:pPr>
              <a:defRPr sz="1875" b="1">
                <a:solidFill>
                  <a:srgbClr val="17365D"/>
                </a:solidFill>
              </a:defRPr>
            </a:pPr>
            <a:r>
              <a:rPr sz="1875" b="1">
                <a:solidFill>
                  <a:srgbClr val="17365D"/>
                </a:solidFill>
              </a:rPr>
              <a:t>Historical context</a:t>
            </a:r>
          </a:p>
        </p:txBody>
      </p:sp>
      <p:sp>
        <p:nvSpPr>
          <p:cNvPr id="12" name="">
            <a:extLst xmlns:a="http://schemas.openxmlformats.org/drawingml/2006/main">
              <a:ext uri="{FF2B5EF4-FFF2-40B4-BE49-F238E27FC236}">
                <a16:creationId xmlns:a16="http://schemas.microsoft.com/office/drawing/2014/main" id="{49F23E7F-64FA-4527-9062-0B1D210850F4}"/>
              </a:ext>
            </a:extLst>
          </p:cNvPr>
          <p:cNvSpPr>
            <a:spLocks xmlns:a="http://schemas.openxmlformats.org/drawingml/2006/main" noGrp="1"/>
          </p:cNvSpPr>
          <p:nvPr/>
        </p:nvSpPr>
        <p:spPr>
          <a:xfrm xmlns:a="http://schemas.openxmlformats.org/drawingml/2006/main">
            <a:off x="8572500" y="2905125"/>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3D8DFF"/>
                </a:solidFill>
              </a:defRPr>
            </a:pPr>
            <a:r>
              <a:rPr sz="2250" b="1">
                <a:solidFill>
                  <a:srgbClr val="3D8DFF"/>
                </a:solidFill>
              </a:rPr>
              <a:t>→</a:t>
            </a:r>
          </a:p>
        </p:txBody>
      </p:sp>
      <p:sp>
        <p:nvSpPr>
          <p:cNvPr id="13" name="">
            <a:extLst xmlns:a="http://schemas.openxmlformats.org/drawingml/2006/main">
              <a:ext uri="{FF2B5EF4-FFF2-40B4-BE49-F238E27FC236}">
                <a16:creationId xmlns:a16="http://schemas.microsoft.com/office/drawing/2014/main" id="{7496DCC6-8A43-4E49-BB59-77DE51D9F5D1}"/>
              </a:ext>
            </a:extLst>
          </p:cNvPr>
          <p:cNvSpPr>
            <a:spLocks xmlns:a="http://schemas.openxmlformats.org/drawingml/2006/main" noGrp="1"/>
          </p:cNvSpPr>
          <p:nvPr/>
        </p:nvSpPr>
        <p:spPr>
          <a:xfrm xmlns:a="http://schemas.openxmlformats.org/drawingml/2006/main">
            <a:off x="9144000" y="2333625"/>
            <a:ext cx="2095500" cy="1666875"/>
          </a:xfrm>
          <a:prstGeom xmlns:a="http://schemas.openxmlformats.org/drawingml/2006/main" prst="rect">
            <a:avLst/>
          </a:prstGeom>
          <a:solidFill xmlns:a="http://schemas.openxmlformats.org/drawingml/2006/main">
            <a:srgbClr val="EAF3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5372659-2BC5-47E6-A8AA-E4EFA730D1E9}"/>
              </a:ext>
            </a:extLst>
          </p:cNvPr>
          <p:cNvSpPr>
            <a:spLocks xmlns:a="http://schemas.openxmlformats.org/drawingml/2006/main" noGrp="1"/>
          </p:cNvSpPr>
          <p:nvPr/>
        </p:nvSpPr>
        <p:spPr>
          <a:xfrm xmlns:a="http://schemas.openxmlformats.org/drawingml/2006/main">
            <a:off x="9334500" y="2647950"/>
            <a:ext cx="1714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7365D"/>
                </a:solidFill>
              </a:defRPr>
            </a:pPr>
            <a:r>
              <a:rPr sz="1875" b="1">
                <a:solidFill>
                  <a:srgbClr val="17365D"/>
                </a:solidFill>
              </a:rPr>
              <a:t>04</a:t>
            </a:r>
          </a:p>
          <a:p xmlns:a="http://schemas.openxmlformats.org/drawingml/2006/main">
            <a:pPr>
              <a:defRPr sz="1875" b="1">
                <a:solidFill>
                  <a:srgbClr val="17365D"/>
                </a:solidFill>
              </a:defRPr>
            </a:pPr>
            <a:r>
              <a:rPr sz="1875" b="1">
                <a:solidFill>
                  <a:srgbClr val="17365D"/>
                </a:solidFill>
              </a:rPr>
              <a:t>Model selection</a:t>
            </a:r>
          </a:p>
        </p:txBody>
      </p:sp>
      <p:sp>
        <p:nvSpPr>
          <p:cNvPr id="15" name="">
            <a:extLst xmlns:a="http://schemas.openxmlformats.org/drawingml/2006/main">
              <a:ext uri="{FF2B5EF4-FFF2-40B4-BE49-F238E27FC236}">
                <a16:creationId xmlns:a16="http://schemas.microsoft.com/office/drawing/2014/main" id="{69E2FC9A-F558-4DD6-B459-9500950EBC95}"/>
              </a:ext>
            </a:extLst>
          </p:cNvPr>
          <p:cNvSpPr>
            <a:spLocks xmlns:a="http://schemas.openxmlformats.org/drawingml/2006/main" noGrp="1"/>
          </p:cNvSpPr>
          <p:nvPr/>
        </p:nvSpPr>
        <p:spPr>
          <a:xfrm xmlns:a="http://schemas.openxmlformats.org/drawingml/2006/main">
            <a:off x="857250" y="476250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152238"/>
                </a:solidFill>
              </a:defRPr>
            </a:pPr>
            <a:r>
              <a:rPr sz="1950" b="1">
                <a:solidFill>
                  <a:srgbClr val="152238"/>
                </a:solidFill>
              </a:rPr>
              <a:t>Output: calibrated batting-team win probabilities after each recorded event.</a:t>
            </a:r>
          </a:p>
        </p:txBody>
      </p:sp>
    </p:spTree>
    <p:extLst>
      <p:ext uri="{BB962C8B-B14F-4D97-AF65-F5344CB8AC3E}">
        <p14:creationId xmlns:p14="http://schemas.microsoft.com/office/powerpoint/2010/main" val="15548809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5DBEA50-7A14-4D61-8872-344092F1645D}"/>
              </a:ext>
            </a:extLst>
          </p:cNvPr>
          <p:cNvSpPr>
            <a:spLocks xmlns:a="http://schemas.openxmlformats.org/drawingml/2006/main" noGrp="1"/>
          </p:cNvSpPr>
          <p:nvPr/>
        </p:nvSpPr>
        <p:spPr>
          <a:xfrm xmlns:a="http://schemas.openxmlformats.org/drawingml/2006/main">
            <a:off x="685800" y="4572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7365D"/>
                </a:solidFill>
              </a:defRPr>
            </a:pPr>
            <a:r>
              <a:rPr sz="2925" b="1">
                <a:solidFill>
                  <a:srgbClr val="17365D"/>
                </a:solidFill>
              </a:rPr>
              <a:t>Phase 01 created a defensible T20I baseline</a:t>
            </a:r>
          </a:p>
        </p:txBody>
      </p:sp>
      <p:sp>
        <p:nvSpPr>
          <p:cNvPr id="2" name="">
            <a:extLst xmlns:a="http://schemas.openxmlformats.org/drawingml/2006/main">
              <a:ext uri="{FF2B5EF4-FFF2-40B4-BE49-F238E27FC236}">
                <a16:creationId xmlns:a16="http://schemas.microsoft.com/office/drawing/2014/main" id="{FBCE9FAC-E1E8-41F4-8AB7-3B7ECFA67ABC}"/>
              </a:ext>
            </a:extLst>
          </p:cNvPr>
          <p:cNvSpPr>
            <a:spLocks xmlns:a="http://schemas.openxmlformats.org/drawingml/2006/main" noGrp="1"/>
          </p:cNvSpPr>
          <p:nvPr/>
        </p:nvSpPr>
        <p:spPr>
          <a:xfrm xmlns:a="http://schemas.openxmlformats.org/drawingml/2006/main">
            <a:off x="685800" y="10668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64748B"/>
                </a:solidFill>
              </a:defRPr>
            </a:pPr>
            <a:r>
              <a:rPr sz="1350" b="0">
                <a:solidFill>
                  <a:srgbClr val="64748B"/>
                </a:solidFill>
              </a:rPr>
              <a:t>Only standard, internally consistent two-innings matches enter modelling.</a:t>
            </a:r>
          </a:p>
        </p:txBody>
      </p:sp>
      <p:sp>
        <p:nvSpPr>
          <p:cNvPr id="3" name="">
            <a:extLst xmlns:a="http://schemas.openxmlformats.org/drawingml/2006/main">
              <a:ext uri="{FF2B5EF4-FFF2-40B4-BE49-F238E27FC236}">
                <a16:creationId xmlns:a16="http://schemas.microsoft.com/office/drawing/2014/main" id="{A977663E-26C2-4C35-87DC-AF030AE97C27}"/>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557C59E-3155-4555-9AA8-06CB02E6D073}"/>
              </a:ext>
            </a:extLst>
          </p:cNvPr>
          <p:cNvSpPr>
            <a:spLocks xmlns:a="http://schemas.openxmlformats.org/drawingml/2006/main" noGrp="1"/>
          </p:cNvSpPr>
          <p:nvPr/>
        </p:nvSpPr>
        <p:spPr>
          <a:xfrm xmlns:a="http://schemas.openxmlformats.org/drawingml/2006/main">
            <a:off x="857250" y="2238375"/>
            <a:ext cx="2714625" cy="1714500"/>
          </a:xfrm>
          <a:prstGeom xmlns:a="http://schemas.openxmlformats.org/drawingml/2006/main" prst="rect">
            <a:avLst/>
          </a:prstGeom>
          <a:solidFill xmlns:a="http://schemas.openxmlformats.org/drawingml/2006/main">
            <a:srgbClr val="EAF3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C2DE806-E7F3-401D-A7CA-CE8C8429C45E}"/>
              </a:ext>
            </a:extLst>
          </p:cNvPr>
          <p:cNvSpPr>
            <a:spLocks xmlns:a="http://schemas.openxmlformats.org/drawingml/2006/main" noGrp="1"/>
          </p:cNvSpPr>
          <p:nvPr/>
        </p:nvSpPr>
        <p:spPr>
          <a:xfrm xmlns:a="http://schemas.openxmlformats.org/drawingml/2006/main">
            <a:off x="1095375" y="2571750"/>
            <a:ext cx="2190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365D"/>
                </a:solidFill>
              </a:defRPr>
            </a:pPr>
            <a:r>
              <a:rPr sz="3150" b="1">
                <a:solidFill>
                  <a:srgbClr val="17365D"/>
                </a:solidFill>
              </a:rPr>
              <a:t>5,602</a:t>
            </a:r>
          </a:p>
        </p:txBody>
      </p:sp>
      <p:sp>
        <p:nvSpPr>
          <p:cNvPr id="6" name="">
            <a:extLst xmlns:a="http://schemas.openxmlformats.org/drawingml/2006/main">
              <a:ext uri="{FF2B5EF4-FFF2-40B4-BE49-F238E27FC236}">
                <a16:creationId xmlns:a16="http://schemas.microsoft.com/office/drawing/2014/main" id="{83DF0EE0-57CF-4C17-97C3-1D17131CB9DB}"/>
              </a:ext>
            </a:extLst>
          </p:cNvPr>
          <p:cNvSpPr>
            <a:spLocks xmlns:a="http://schemas.openxmlformats.org/drawingml/2006/main" noGrp="1"/>
          </p:cNvSpPr>
          <p:nvPr/>
        </p:nvSpPr>
        <p:spPr>
          <a:xfrm xmlns:a="http://schemas.openxmlformats.org/drawingml/2006/main">
            <a:off x="1095375" y="32385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4748B"/>
                </a:solidFill>
              </a:defRPr>
            </a:pPr>
            <a:r>
              <a:rPr sz="1500" b="0">
                <a:solidFill>
                  <a:srgbClr val="64748B"/>
                </a:solidFill>
              </a:rPr>
              <a:t>source matches</a:t>
            </a:r>
          </a:p>
        </p:txBody>
      </p:sp>
      <p:sp>
        <p:nvSpPr>
          <p:cNvPr id="7" name="">
            <a:extLst xmlns:a="http://schemas.openxmlformats.org/drawingml/2006/main">
              <a:ext uri="{FF2B5EF4-FFF2-40B4-BE49-F238E27FC236}">
                <a16:creationId xmlns:a16="http://schemas.microsoft.com/office/drawing/2014/main" id="{69C96D6F-0006-40A3-975B-275514A39CA3}"/>
              </a:ext>
            </a:extLst>
          </p:cNvPr>
          <p:cNvSpPr>
            <a:spLocks xmlns:a="http://schemas.openxmlformats.org/drawingml/2006/main" noGrp="1"/>
          </p:cNvSpPr>
          <p:nvPr/>
        </p:nvSpPr>
        <p:spPr>
          <a:xfrm xmlns:a="http://schemas.openxmlformats.org/drawingml/2006/main">
            <a:off x="4238625" y="2238375"/>
            <a:ext cx="2714625" cy="1714500"/>
          </a:xfrm>
          <a:prstGeom xmlns:a="http://schemas.openxmlformats.org/drawingml/2006/main" prst="rect">
            <a:avLst/>
          </a:prstGeom>
          <a:solidFill xmlns:a="http://schemas.openxmlformats.org/drawingml/2006/main">
            <a:srgbClr val="DDEBF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BEF35DB-DECB-4B95-B536-CA77AE8666E0}"/>
              </a:ext>
            </a:extLst>
          </p:cNvPr>
          <p:cNvSpPr>
            <a:spLocks xmlns:a="http://schemas.openxmlformats.org/drawingml/2006/main" noGrp="1"/>
          </p:cNvSpPr>
          <p:nvPr/>
        </p:nvSpPr>
        <p:spPr>
          <a:xfrm xmlns:a="http://schemas.openxmlformats.org/drawingml/2006/main">
            <a:off x="4476750" y="2571750"/>
            <a:ext cx="2190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365D"/>
                </a:solidFill>
              </a:defRPr>
            </a:pPr>
            <a:r>
              <a:rPr sz="3150" b="1">
                <a:solidFill>
                  <a:srgbClr val="17365D"/>
                </a:solidFill>
              </a:rPr>
              <a:t>4,975</a:t>
            </a:r>
          </a:p>
        </p:txBody>
      </p:sp>
      <p:sp>
        <p:nvSpPr>
          <p:cNvPr id="9" name="">
            <a:extLst xmlns:a="http://schemas.openxmlformats.org/drawingml/2006/main">
              <a:ext uri="{FF2B5EF4-FFF2-40B4-BE49-F238E27FC236}">
                <a16:creationId xmlns:a16="http://schemas.microsoft.com/office/drawing/2014/main" id="{921F3AFD-813B-4DF7-96ED-BD63C50E018B}"/>
              </a:ext>
            </a:extLst>
          </p:cNvPr>
          <p:cNvSpPr>
            <a:spLocks xmlns:a="http://schemas.openxmlformats.org/drawingml/2006/main" noGrp="1"/>
          </p:cNvSpPr>
          <p:nvPr/>
        </p:nvSpPr>
        <p:spPr>
          <a:xfrm xmlns:a="http://schemas.openxmlformats.org/drawingml/2006/main">
            <a:off x="4476750" y="32385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4748B"/>
                </a:solidFill>
              </a:defRPr>
            </a:pPr>
            <a:r>
              <a:rPr sz="1500" b="0">
                <a:solidFill>
                  <a:srgbClr val="64748B"/>
                </a:solidFill>
              </a:rPr>
              <a:t>eligible matches</a:t>
            </a:r>
          </a:p>
        </p:txBody>
      </p:sp>
      <p:sp>
        <p:nvSpPr>
          <p:cNvPr id="10" name="">
            <a:extLst xmlns:a="http://schemas.openxmlformats.org/drawingml/2006/main">
              <a:ext uri="{FF2B5EF4-FFF2-40B4-BE49-F238E27FC236}">
                <a16:creationId xmlns:a16="http://schemas.microsoft.com/office/drawing/2014/main" id="{A4D1A145-633B-48F5-A155-8D904089FA0A}"/>
              </a:ext>
            </a:extLst>
          </p:cNvPr>
          <p:cNvSpPr>
            <a:spLocks xmlns:a="http://schemas.openxmlformats.org/drawingml/2006/main" noGrp="1"/>
          </p:cNvSpPr>
          <p:nvPr/>
        </p:nvSpPr>
        <p:spPr>
          <a:xfrm xmlns:a="http://schemas.openxmlformats.org/drawingml/2006/main">
            <a:off x="7620000" y="2238375"/>
            <a:ext cx="2714625" cy="1714500"/>
          </a:xfrm>
          <a:prstGeom xmlns:a="http://schemas.openxmlformats.org/drawingml/2006/main" prst="rect">
            <a:avLst/>
          </a:prstGeom>
          <a:solidFill xmlns:a="http://schemas.openxmlformats.org/drawingml/2006/main">
            <a:srgbClr val="EAF3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A2C18B-3417-45EC-AD44-7C8A5B8602A9}"/>
              </a:ext>
            </a:extLst>
          </p:cNvPr>
          <p:cNvSpPr>
            <a:spLocks xmlns:a="http://schemas.openxmlformats.org/drawingml/2006/main" noGrp="1"/>
          </p:cNvSpPr>
          <p:nvPr/>
        </p:nvSpPr>
        <p:spPr>
          <a:xfrm xmlns:a="http://schemas.openxmlformats.org/drawingml/2006/main">
            <a:off x="7858125" y="2571750"/>
            <a:ext cx="2190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365D"/>
                </a:solidFill>
              </a:defRPr>
            </a:pPr>
            <a:r>
              <a:rPr sz="3150" b="1">
                <a:solidFill>
                  <a:srgbClr val="17365D"/>
                </a:solidFill>
              </a:rPr>
              <a:t>1.156m</a:t>
            </a:r>
          </a:p>
        </p:txBody>
      </p:sp>
      <p:sp>
        <p:nvSpPr>
          <p:cNvPr id="12" name="">
            <a:extLst xmlns:a="http://schemas.openxmlformats.org/drawingml/2006/main">
              <a:ext uri="{FF2B5EF4-FFF2-40B4-BE49-F238E27FC236}">
                <a16:creationId xmlns:a16="http://schemas.microsoft.com/office/drawing/2014/main" id="{AB5E141D-98C7-4A75-9B70-7A81D3718BC0}"/>
              </a:ext>
            </a:extLst>
          </p:cNvPr>
          <p:cNvSpPr>
            <a:spLocks xmlns:a="http://schemas.openxmlformats.org/drawingml/2006/main" noGrp="1"/>
          </p:cNvSpPr>
          <p:nvPr/>
        </p:nvSpPr>
        <p:spPr>
          <a:xfrm xmlns:a="http://schemas.openxmlformats.org/drawingml/2006/main">
            <a:off x="7858125" y="32385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64748B"/>
                </a:solidFill>
              </a:defRPr>
            </a:pPr>
            <a:r>
              <a:rPr sz="1500" b="0">
                <a:solidFill>
                  <a:srgbClr val="64748B"/>
                </a:solidFill>
              </a:rPr>
              <a:t>eligible events</a:t>
            </a:r>
          </a:p>
        </p:txBody>
      </p:sp>
      <p:sp>
        <p:nvSpPr>
          <p:cNvPr id="13" name="">
            <a:extLst xmlns:a="http://schemas.openxmlformats.org/drawingml/2006/main">
              <a:ext uri="{FF2B5EF4-FFF2-40B4-BE49-F238E27FC236}">
                <a16:creationId xmlns:a16="http://schemas.microsoft.com/office/drawing/2014/main" id="{19A7BA7A-4987-46AB-BD0C-6148C86A584B}"/>
              </a:ext>
            </a:extLst>
          </p:cNvPr>
          <p:cNvSpPr>
            <a:spLocks xmlns:a="http://schemas.openxmlformats.org/drawingml/2006/main" noGrp="1"/>
          </p:cNvSpPr>
          <p:nvPr/>
        </p:nvSpPr>
        <p:spPr>
          <a:xfrm xmlns:a="http://schemas.openxmlformats.org/drawingml/2006/main">
            <a:off x="857250" y="4762500"/>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52238"/>
                </a:solidFill>
              </a:defRPr>
            </a:pPr>
            <a:r>
              <a:rPr sz="1800" b="1">
                <a:solidFill>
                  <a:srgbClr val="152238"/>
                </a:solidFill>
              </a:rPr>
              <a:t>Key control: preserve source event order — displayed over/ball coordinates repeat after illegal deliveries.</a:t>
            </a:r>
          </a:p>
        </p:txBody>
      </p:sp>
    </p:spTree>
    <p:extLst>
      <p:ext uri="{BB962C8B-B14F-4D97-AF65-F5344CB8AC3E}">
        <p14:creationId xmlns:p14="http://schemas.microsoft.com/office/powerpoint/2010/main" val="68487891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1575788-46A6-42AC-AFFC-77A44F6340E5}"/>
              </a:ext>
            </a:extLst>
          </p:cNvPr>
          <p:cNvSpPr>
            <a:spLocks xmlns:a="http://schemas.openxmlformats.org/drawingml/2006/main" noGrp="1"/>
          </p:cNvSpPr>
          <p:nvPr/>
        </p:nvSpPr>
        <p:spPr>
          <a:xfrm xmlns:a="http://schemas.openxmlformats.org/drawingml/2006/main">
            <a:off x="685800" y="4572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7365D"/>
                </a:solidFill>
              </a:defRPr>
            </a:pPr>
            <a:r>
              <a:rPr sz="2925" b="1">
                <a:solidFill>
                  <a:srgbClr val="17365D"/>
                </a:solidFill>
              </a:rPr>
              <a:t>Phase 02–03 separate game state from historical context</a:t>
            </a:r>
          </a:p>
        </p:txBody>
      </p:sp>
      <p:sp>
        <p:nvSpPr>
          <p:cNvPr id="2" name="">
            <a:extLst xmlns:a="http://schemas.openxmlformats.org/drawingml/2006/main">
              <a:ext uri="{FF2B5EF4-FFF2-40B4-BE49-F238E27FC236}">
                <a16:creationId xmlns:a16="http://schemas.microsoft.com/office/drawing/2014/main" id="{EFA73091-7886-440C-8789-060A562A6D54}"/>
              </a:ext>
            </a:extLst>
          </p:cNvPr>
          <p:cNvSpPr>
            <a:spLocks xmlns:a="http://schemas.openxmlformats.org/drawingml/2006/main" noGrp="1"/>
          </p:cNvSpPr>
          <p:nvPr/>
        </p:nvSpPr>
        <p:spPr>
          <a:xfrm xmlns:a="http://schemas.openxmlformats.org/drawingml/2006/main">
            <a:off x="685800" y="10668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64748B"/>
                </a:solidFill>
              </a:defRPr>
            </a:pPr>
            <a:r>
              <a:rPr sz="1350" b="0">
                <a:solidFill>
                  <a:srgbClr val="64748B"/>
                </a:solidFill>
              </a:rPr>
              <a:t>First innings never receives chase-only information; histories never use the current match.</a:t>
            </a:r>
          </a:p>
        </p:txBody>
      </p:sp>
      <p:sp>
        <p:nvSpPr>
          <p:cNvPr id="3" name="">
            <a:extLst xmlns:a="http://schemas.openxmlformats.org/drawingml/2006/main">
              <a:ext uri="{FF2B5EF4-FFF2-40B4-BE49-F238E27FC236}">
                <a16:creationId xmlns:a16="http://schemas.microsoft.com/office/drawing/2014/main" id="{3167DD0C-5028-49DF-B778-DC1CECC2567B}"/>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86E4DA9-799C-47E2-99AA-D5F0F0007B94}"/>
              </a:ext>
            </a:extLst>
          </p:cNvPr>
          <p:cNvSpPr>
            <a:spLocks xmlns:a="http://schemas.openxmlformats.org/drawingml/2006/main" noGrp="1"/>
          </p:cNvSpPr>
          <p:nvPr/>
        </p:nvSpPr>
        <p:spPr>
          <a:xfrm xmlns:a="http://schemas.openxmlformats.org/drawingml/2006/main">
            <a:off x="857250" y="214312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365D"/>
                </a:solidFill>
              </a:defRPr>
            </a:pPr>
            <a:r>
              <a:rPr sz="2025" b="1">
                <a:solidFill>
                  <a:srgbClr val="17365D"/>
                </a:solidFill>
              </a:rPr>
              <a:t>Phase 02: game-state features</a:t>
            </a:r>
          </a:p>
        </p:txBody>
      </p:sp>
      <p:sp>
        <p:nvSpPr>
          <p:cNvPr id="5" name="">
            <a:extLst xmlns:a="http://schemas.openxmlformats.org/drawingml/2006/main">
              <a:ext uri="{FF2B5EF4-FFF2-40B4-BE49-F238E27FC236}">
                <a16:creationId xmlns:a16="http://schemas.microsoft.com/office/drawing/2014/main" id="{32806715-2304-445A-BD28-FF993FD3FAE1}"/>
              </a:ext>
            </a:extLst>
          </p:cNvPr>
          <p:cNvSpPr>
            <a:spLocks xmlns:a="http://schemas.openxmlformats.org/drawingml/2006/main" noGrp="1"/>
          </p:cNvSpPr>
          <p:nvPr/>
        </p:nvSpPr>
        <p:spPr>
          <a:xfrm xmlns:a="http://schemas.openxmlformats.org/drawingml/2006/main">
            <a:off x="857250" y="2714625"/>
            <a:ext cx="4572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152238"/>
                </a:solidFill>
              </a:defRPr>
            </a:pPr>
            <a:r>
              <a:rPr sz="1650" b="0">
                <a:solidFill>
                  <a:srgbClr val="152238"/>
                </a:solidFill>
              </a:rPr>
              <a:t>Score • wickets • legal balls • innings phase</a:t>
            </a:r>
          </a:p>
          <a:p xmlns:a="http://schemas.openxmlformats.org/drawingml/2006/main">
            <a:pPr>
              <a:defRPr sz="1650" b="0">
                <a:solidFill>
                  <a:srgbClr val="152238"/>
                </a:solidFill>
              </a:defRPr>
            </a:pPr>
            <a:r>
              <a:rPr sz="1650" b="0">
                <a:solidFill>
                  <a:srgbClr val="152238"/>
                </a:solidFill>
              </a:rPr>
              <a:t>Prior 10-event runs and wickets</a:t>
            </a:r>
          </a:p>
          <a:p xmlns:a="http://schemas.openxmlformats.org/drawingml/2006/main">
            <a:pPr>
              <a:defRPr sz="1650" b="0">
                <a:solidFill>
                  <a:srgbClr val="152238"/>
                </a:solidFill>
              </a:defRPr>
            </a:pPr>
            <a:r>
              <a:rPr sz="1650" b="0">
                <a:solidFill>
                  <a:srgbClr val="152238"/>
                </a:solidFill>
              </a:rPr>
              <a:t>Chase fields only in innings two</a:t>
            </a:r>
          </a:p>
        </p:txBody>
      </p:sp>
      <p:sp>
        <p:nvSpPr>
          <p:cNvPr id="6" name="">
            <a:extLst xmlns:a="http://schemas.openxmlformats.org/drawingml/2006/main">
              <a:ext uri="{FF2B5EF4-FFF2-40B4-BE49-F238E27FC236}">
                <a16:creationId xmlns:a16="http://schemas.microsoft.com/office/drawing/2014/main" id="{9623D8D7-3313-447E-A225-ABFCF4239C8C}"/>
              </a:ext>
            </a:extLst>
          </p:cNvPr>
          <p:cNvSpPr>
            <a:spLocks xmlns:a="http://schemas.openxmlformats.org/drawingml/2006/main" noGrp="1"/>
          </p:cNvSpPr>
          <p:nvPr/>
        </p:nvSpPr>
        <p:spPr>
          <a:xfrm xmlns:a="http://schemas.openxmlformats.org/drawingml/2006/main">
            <a:off x="6572250" y="214312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365D"/>
                </a:solidFill>
              </a:defRPr>
            </a:pPr>
            <a:r>
              <a:rPr sz="2025" b="1">
                <a:solidFill>
                  <a:srgbClr val="17365D"/>
                </a:solidFill>
              </a:rPr>
              <a:t>Phase 03: historical features</a:t>
            </a:r>
          </a:p>
        </p:txBody>
      </p:sp>
      <p:sp>
        <p:nvSpPr>
          <p:cNvPr id="7" name="">
            <a:extLst xmlns:a="http://schemas.openxmlformats.org/drawingml/2006/main">
              <a:ext uri="{FF2B5EF4-FFF2-40B4-BE49-F238E27FC236}">
                <a16:creationId xmlns:a16="http://schemas.microsoft.com/office/drawing/2014/main" id="{F54D0871-B995-4951-BC02-9EDDAFAADC2D}"/>
              </a:ext>
            </a:extLst>
          </p:cNvPr>
          <p:cNvSpPr>
            <a:spLocks xmlns:a="http://schemas.openxmlformats.org/drawingml/2006/main" noGrp="1"/>
          </p:cNvSpPr>
          <p:nvPr/>
        </p:nvSpPr>
        <p:spPr>
          <a:xfrm xmlns:a="http://schemas.openxmlformats.org/drawingml/2006/main">
            <a:off x="6572250" y="2714625"/>
            <a:ext cx="4572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152238"/>
                </a:solidFill>
              </a:defRPr>
            </a:pPr>
            <a:r>
              <a:rPr sz="1650" b="0">
                <a:solidFill>
                  <a:srgbClr val="152238"/>
                </a:solidFill>
              </a:rPr>
              <a:t>Striker, non-striker and bowler histories</a:t>
            </a:r>
          </a:p>
          <a:p xmlns:a="http://schemas.openxmlformats.org/drawingml/2006/main">
            <a:pPr>
              <a:defRPr sz="1650" b="0">
                <a:solidFill>
                  <a:srgbClr val="152238"/>
                </a:solidFill>
              </a:defRPr>
            </a:pPr>
            <a:r>
              <a:rPr sz="1650" b="0">
                <a:solidFill>
                  <a:srgbClr val="152238"/>
                </a:solidFill>
              </a:rPr>
              <a:t>Team and venue context</a:t>
            </a:r>
          </a:p>
          <a:p xmlns:a="http://schemas.openxmlformats.org/drawingml/2006/main">
            <a:pPr>
              <a:defRPr sz="1650" b="0">
                <a:solidFill>
                  <a:srgbClr val="152238"/>
                </a:solidFill>
              </a:defRPr>
            </a:pPr>
            <a:r>
              <a:rPr sz="1650" b="0">
                <a:solidFill>
                  <a:srgbClr val="152238"/>
                </a:solidFill>
              </a:rPr>
              <a:t>Strictly earlier match dates only</a:t>
            </a:r>
          </a:p>
        </p:txBody>
      </p:sp>
      <p:sp>
        <p:nvSpPr>
          <p:cNvPr id="8" name="">
            <a:extLst xmlns:a="http://schemas.openxmlformats.org/drawingml/2006/main">
              <a:ext uri="{FF2B5EF4-FFF2-40B4-BE49-F238E27FC236}">
                <a16:creationId xmlns:a16="http://schemas.microsoft.com/office/drawing/2014/main" id="{146944BB-F700-412E-8A57-00D110C76AA2}"/>
              </a:ext>
            </a:extLst>
          </p:cNvPr>
          <p:cNvSpPr>
            <a:spLocks xmlns:a="http://schemas.openxmlformats.org/drawingml/2006/main" noGrp="1"/>
          </p:cNvSpPr>
          <p:nvPr/>
        </p:nvSpPr>
        <p:spPr>
          <a:xfrm xmlns:a="http://schemas.openxmlformats.org/drawingml/2006/main">
            <a:off x="5810250" y="2095500"/>
            <a:ext cx="19050" cy="2190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D469A05-8E13-4269-A723-1BB1A2821A0E}"/>
              </a:ext>
            </a:extLst>
          </p:cNvPr>
          <p:cNvSpPr>
            <a:spLocks xmlns:a="http://schemas.openxmlformats.org/drawingml/2006/main" noGrp="1"/>
          </p:cNvSpPr>
          <p:nvPr/>
        </p:nvSpPr>
        <p:spPr>
          <a:xfrm xmlns:a="http://schemas.openxmlformats.org/drawingml/2006/main">
            <a:off x="857250" y="48577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64748B"/>
                </a:solidFill>
              </a:defRPr>
            </a:pPr>
            <a:r>
              <a:rPr sz="1650" b="1">
                <a:solidFill>
                  <a:srgbClr val="64748B"/>
                </a:solidFill>
              </a:rPr>
              <a:t>Four physical modelling tables</a:t>
            </a:r>
          </a:p>
        </p:txBody>
      </p:sp>
      <p:sp>
        <p:nvSpPr>
          <p:cNvPr id="10" name="">
            <a:extLst xmlns:a="http://schemas.openxmlformats.org/drawingml/2006/main">
              <a:ext uri="{FF2B5EF4-FFF2-40B4-BE49-F238E27FC236}">
                <a16:creationId xmlns:a16="http://schemas.microsoft.com/office/drawing/2014/main" id="{243FA07F-7A5B-4944-8096-1184A1D2265B}"/>
              </a:ext>
            </a:extLst>
          </p:cNvPr>
          <p:cNvSpPr>
            <a:spLocks xmlns:a="http://schemas.openxmlformats.org/drawingml/2006/main" noGrp="1"/>
          </p:cNvSpPr>
          <p:nvPr/>
        </p:nvSpPr>
        <p:spPr>
          <a:xfrm xmlns:a="http://schemas.openxmlformats.org/drawingml/2006/main">
            <a:off x="857250" y="5238750"/>
            <a:ext cx="857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17365D"/>
                </a:solidFill>
              </a:defRPr>
            </a:pPr>
            <a:r>
              <a:rPr sz="2100" b="1">
                <a:solidFill>
                  <a:srgbClr val="17365D"/>
                </a:solidFill>
              </a:rPr>
              <a:t>Female I1  •  Female I2  •  Male I1  •  Male I2</a:t>
            </a:r>
          </a:p>
        </p:txBody>
      </p:sp>
    </p:spTree>
    <p:extLst>
      <p:ext uri="{BB962C8B-B14F-4D97-AF65-F5344CB8AC3E}">
        <p14:creationId xmlns:p14="http://schemas.microsoft.com/office/powerpoint/2010/main" val="98694082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767E263-8E0A-4EBE-93B5-748BE62FD686}"/>
              </a:ext>
            </a:extLst>
          </p:cNvPr>
          <p:cNvSpPr>
            <a:spLocks xmlns:a="http://schemas.openxmlformats.org/drawingml/2006/main" noGrp="1"/>
          </p:cNvSpPr>
          <p:nvPr/>
        </p:nvSpPr>
        <p:spPr>
          <a:xfrm xmlns:a="http://schemas.openxmlformats.org/drawingml/2006/main">
            <a:off x="685800" y="4572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7365D"/>
                </a:solidFill>
              </a:defRPr>
            </a:pPr>
            <a:r>
              <a:rPr sz="2925" b="1">
                <a:solidFill>
                  <a:srgbClr val="17365D"/>
                </a:solidFill>
              </a:rPr>
              <a:t>Phase 04 compares simple and complex models fairly</a:t>
            </a:r>
          </a:p>
        </p:txBody>
      </p:sp>
      <p:sp>
        <p:nvSpPr>
          <p:cNvPr id="2" name="">
            <a:extLst xmlns:a="http://schemas.openxmlformats.org/drawingml/2006/main">
              <a:ext uri="{FF2B5EF4-FFF2-40B4-BE49-F238E27FC236}">
                <a16:creationId xmlns:a16="http://schemas.microsoft.com/office/drawing/2014/main" id="{303B3FDB-2C67-4B4E-BFC4-C5A1023BA641}"/>
              </a:ext>
            </a:extLst>
          </p:cNvPr>
          <p:cNvSpPr>
            <a:spLocks xmlns:a="http://schemas.openxmlformats.org/drawingml/2006/main" noGrp="1"/>
          </p:cNvSpPr>
          <p:nvPr/>
        </p:nvSpPr>
        <p:spPr>
          <a:xfrm xmlns:a="http://schemas.openxmlformats.org/drawingml/2006/main">
            <a:off x="685800" y="10668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64748B"/>
                </a:solidFill>
              </a:defRPr>
            </a:pPr>
            <a:r>
              <a:rPr sz="1350" b="0">
                <a:solidFill>
                  <a:srgbClr val="64748B"/>
                </a:solidFill>
              </a:rPr>
              <a:t>Chronological whole-match splits and validation log loss determine the final model.</a:t>
            </a:r>
          </a:p>
        </p:txBody>
      </p:sp>
      <p:sp>
        <p:nvSpPr>
          <p:cNvPr id="3" name="">
            <a:extLst xmlns:a="http://schemas.openxmlformats.org/drawingml/2006/main">
              <a:ext uri="{FF2B5EF4-FFF2-40B4-BE49-F238E27FC236}">
                <a16:creationId xmlns:a16="http://schemas.microsoft.com/office/drawing/2014/main" id="{C66D5340-2573-42EE-B05A-43E6D21A4969}"/>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9BEF03-4D59-4EDB-9F59-E3E8B59E7AB1}"/>
              </a:ext>
            </a:extLst>
          </p:cNvPr>
          <p:cNvSpPr>
            <a:spLocks xmlns:a="http://schemas.openxmlformats.org/drawingml/2006/main" noGrp="1"/>
          </p:cNvSpPr>
          <p:nvPr/>
        </p:nvSpPr>
        <p:spPr>
          <a:xfrm xmlns:a="http://schemas.openxmlformats.org/drawingml/2006/main">
            <a:off x="85725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7365D"/>
                </a:solidFill>
              </a:defRPr>
            </a:pPr>
            <a:r>
              <a:rPr sz="1800" b="1">
                <a:solidFill>
                  <a:srgbClr val="17365D"/>
                </a:solidFill>
              </a:rPr>
              <a:t>Candidate order</a:t>
            </a:r>
          </a:p>
        </p:txBody>
      </p:sp>
      <p:sp>
        <p:nvSpPr>
          <p:cNvPr id="5" name="">
            <a:extLst xmlns:a="http://schemas.openxmlformats.org/drawingml/2006/main">
              <a:ext uri="{FF2B5EF4-FFF2-40B4-BE49-F238E27FC236}">
                <a16:creationId xmlns:a16="http://schemas.microsoft.com/office/drawing/2014/main" id="{37AE7875-D980-449E-B157-5A1DEFD42ADB}"/>
              </a:ext>
            </a:extLst>
          </p:cNvPr>
          <p:cNvSpPr>
            <a:spLocks xmlns:a="http://schemas.openxmlformats.org/drawingml/2006/main" noGrp="1"/>
          </p:cNvSpPr>
          <p:nvPr/>
        </p:nvSpPr>
        <p:spPr>
          <a:xfrm xmlns:a="http://schemas.openxmlformats.org/drawingml/2006/main">
            <a:off x="857250" y="2571750"/>
            <a:ext cx="3000375" cy="476250"/>
          </a:xfrm>
          <a:prstGeom xmlns:a="http://schemas.openxmlformats.org/drawingml/2006/main" prst="rect">
            <a:avLst/>
          </a:prstGeom>
          <a:solidFill xmlns:a="http://schemas.openxmlformats.org/drawingml/2006/main">
            <a:srgbClr val="EAF3F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815C7C3-748B-49E2-8275-19E2F5CD9034}"/>
              </a:ext>
            </a:extLst>
          </p:cNvPr>
          <p:cNvSpPr>
            <a:spLocks xmlns:a="http://schemas.openxmlformats.org/drawingml/2006/main" noGrp="1"/>
          </p:cNvSpPr>
          <p:nvPr/>
        </p:nvSpPr>
        <p:spPr>
          <a:xfrm xmlns:a="http://schemas.openxmlformats.org/drawingml/2006/main">
            <a:off x="1028700" y="26860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0">
                <a:solidFill>
                  <a:srgbClr val="152238"/>
                </a:solidFill>
              </a:defRPr>
            </a:pPr>
            <a:r>
              <a:rPr sz="1575" b="0">
                <a:solidFill>
                  <a:srgbClr val="152238"/>
                </a:solidFill>
              </a:rPr>
              <a:t>1.  Naïve baseline</a:t>
            </a:r>
          </a:p>
        </p:txBody>
      </p:sp>
      <p:sp>
        <p:nvSpPr>
          <p:cNvPr id="7" name="">
            <a:extLst xmlns:a="http://schemas.openxmlformats.org/drawingml/2006/main">
              <a:ext uri="{FF2B5EF4-FFF2-40B4-BE49-F238E27FC236}">
                <a16:creationId xmlns:a16="http://schemas.microsoft.com/office/drawing/2014/main" id="{96533D13-EB87-4ADA-856C-47BC66C63BF1}"/>
              </a:ext>
            </a:extLst>
          </p:cNvPr>
          <p:cNvSpPr>
            <a:spLocks xmlns:a="http://schemas.openxmlformats.org/drawingml/2006/main" noGrp="1"/>
          </p:cNvSpPr>
          <p:nvPr/>
        </p:nvSpPr>
        <p:spPr>
          <a:xfrm xmlns:a="http://schemas.openxmlformats.org/drawingml/2006/main">
            <a:off x="857250" y="3238500"/>
            <a:ext cx="3000375" cy="476250"/>
          </a:xfrm>
          <a:prstGeom xmlns:a="http://schemas.openxmlformats.org/drawingml/2006/main" prst="rect">
            <a:avLst/>
          </a:prstGeom>
          <a:solidFill xmlns:a="http://schemas.openxmlformats.org/drawingml/2006/main">
            <a:srgbClr val="DDEBF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8ED7BB-8D84-4FB9-A9B8-5835165659A5}"/>
              </a:ext>
            </a:extLst>
          </p:cNvPr>
          <p:cNvSpPr>
            <a:spLocks xmlns:a="http://schemas.openxmlformats.org/drawingml/2006/main" noGrp="1"/>
          </p:cNvSpPr>
          <p:nvPr/>
        </p:nvSpPr>
        <p:spPr>
          <a:xfrm xmlns:a="http://schemas.openxmlformats.org/drawingml/2006/main">
            <a:off x="1028700" y="33528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52238"/>
                </a:solidFill>
              </a:defRPr>
            </a:pPr>
            <a:r>
              <a:rPr sz="1575" b="1">
                <a:solidFill>
                  <a:srgbClr val="152238"/>
                </a:solidFill>
              </a:rPr>
              <a:t>2.  Logistic Regression</a:t>
            </a:r>
          </a:p>
        </p:txBody>
      </p:sp>
      <p:sp>
        <p:nvSpPr>
          <p:cNvPr id="9" name="">
            <a:extLst xmlns:a="http://schemas.openxmlformats.org/drawingml/2006/main">
              <a:ext uri="{FF2B5EF4-FFF2-40B4-BE49-F238E27FC236}">
                <a16:creationId xmlns:a16="http://schemas.microsoft.com/office/drawing/2014/main" id="{CD54E80E-1F29-4201-BE5A-D65FF9A45A9E}"/>
              </a:ext>
            </a:extLst>
          </p:cNvPr>
          <p:cNvSpPr>
            <a:spLocks xmlns:a="http://schemas.openxmlformats.org/drawingml/2006/main" noGrp="1"/>
          </p:cNvSpPr>
          <p:nvPr/>
        </p:nvSpPr>
        <p:spPr>
          <a:xfrm xmlns:a="http://schemas.openxmlformats.org/drawingml/2006/main">
            <a:off x="857250" y="3905250"/>
            <a:ext cx="3000375" cy="476250"/>
          </a:xfrm>
          <a:prstGeom xmlns:a="http://schemas.openxmlformats.org/drawingml/2006/main" prst="rect">
            <a:avLst/>
          </a:prstGeom>
          <a:solidFill xmlns:a="http://schemas.openxmlformats.org/drawingml/2006/main">
            <a:srgbClr val="EAF3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37D171A-4BBF-4711-A561-48FBD6C7D719}"/>
              </a:ext>
            </a:extLst>
          </p:cNvPr>
          <p:cNvSpPr>
            <a:spLocks xmlns:a="http://schemas.openxmlformats.org/drawingml/2006/main" noGrp="1"/>
          </p:cNvSpPr>
          <p:nvPr/>
        </p:nvSpPr>
        <p:spPr>
          <a:xfrm xmlns:a="http://schemas.openxmlformats.org/drawingml/2006/main">
            <a:off x="1028700" y="4019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0">
                <a:solidFill>
                  <a:srgbClr val="152238"/>
                </a:solidFill>
              </a:defRPr>
            </a:pPr>
            <a:r>
              <a:rPr sz="1575" b="0">
                <a:solidFill>
                  <a:srgbClr val="152238"/>
                </a:solidFill>
              </a:rPr>
              <a:t>3.  Random Forest</a:t>
            </a:r>
          </a:p>
        </p:txBody>
      </p:sp>
      <p:sp>
        <p:nvSpPr>
          <p:cNvPr id="11" name="">
            <a:extLst xmlns:a="http://schemas.openxmlformats.org/drawingml/2006/main">
              <a:ext uri="{FF2B5EF4-FFF2-40B4-BE49-F238E27FC236}">
                <a16:creationId xmlns:a16="http://schemas.microsoft.com/office/drawing/2014/main" id="{25227284-CC4B-4889-8D49-AD2E59F5AEB5}"/>
              </a:ext>
            </a:extLst>
          </p:cNvPr>
          <p:cNvSpPr>
            <a:spLocks xmlns:a="http://schemas.openxmlformats.org/drawingml/2006/main" noGrp="1"/>
          </p:cNvSpPr>
          <p:nvPr/>
        </p:nvSpPr>
        <p:spPr>
          <a:xfrm xmlns:a="http://schemas.openxmlformats.org/drawingml/2006/main">
            <a:off x="4857750" y="2333625"/>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17365D"/>
                </a:solidFill>
              </a:defRPr>
            </a:pPr>
            <a:r>
              <a:rPr sz="2100" b="1">
                <a:solidFill>
                  <a:srgbClr val="17365D"/>
                </a:solidFill>
              </a:rPr>
              <a:t>70% train  →  15% validation  →  15% test</a:t>
            </a:r>
          </a:p>
        </p:txBody>
      </p:sp>
      <p:sp>
        <p:nvSpPr>
          <p:cNvPr id="12" name="">
            <a:extLst xmlns:a="http://schemas.openxmlformats.org/drawingml/2006/main">
              <a:ext uri="{FF2B5EF4-FFF2-40B4-BE49-F238E27FC236}">
                <a16:creationId xmlns:a16="http://schemas.microsoft.com/office/drawing/2014/main" id="{4AA49074-610F-490F-8183-C786B9522CE1}"/>
              </a:ext>
            </a:extLst>
          </p:cNvPr>
          <p:cNvSpPr>
            <a:spLocks xmlns:a="http://schemas.openxmlformats.org/drawingml/2006/main" noGrp="1"/>
          </p:cNvSpPr>
          <p:nvPr/>
        </p:nvSpPr>
        <p:spPr>
          <a:xfrm xmlns:a="http://schemas.openxmlformats.org/drawingml/2006/main">
            <a:off x="4857750" y="3000375"/>
            <a:ext cx="5905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0">
                <a:solidFill>
                  <a:srgbClr val="152238"/>
                </a:solidFill>
              </a:defRPr>
            </a:pPr>
            <a:r>
              <a:rPr sz="1575" b="0">
                <a:solidFill>
                  <a:srgbClr val="152238"/>
                </a:solidFill>
              </a:rPr>
              <a:t>Whole matches and equal-date groups remain together.</a:t>
            </a:r>
          </a:p>
          <a:p xmlns:a="http://schemas.openxmlformats.org/drawingml/2006/main">
            <a:pPr>
              <a:defRPr sz="1575" b="0">
                <a:solidFill>
                  <a:srgbClr val="152238"/>
                </a:solidFill>
              </a:defRPr>
            </a:pPr>
            <a:r>
              <a:rPr sz="1575" b="0">
                <a:solidFill>
                  <a:srgbClr val="152238"/>
                </a:solidFill>
              </a:rPr>
              <a:t>Imputation, missing indicators and scaling are fitted on training data only.</a:t>
            </a:r>
          </a:p>
          <a:p xmlns:a="http://schemas.openxmlformats.org/drawingml/2006/main">
            <a:pPr>
              <a:defRPr sz="1575" b="0">
                <a:solidFill>
                  <a:srgbClr val="152238"/>
                </a:solidFill>
              </a:defRPr>
            </a:pPr>
            <a:r>
              <a:rPr sz="1575" b="0">
                <a:solidFill>
                  <a:srgbClr val="152238"/>
                </a:solidFill>
              </a:rPr>
              <a:t>Validation log loss selects the model; test is held out for final evaluation.</a:t>
            </a:r>
          </a:p>
        </p:txBody>
      </p:sp>
    </p:spTree>
    <p:extLst>
      <p:ext uri="{BB962C8B-B14F-4D97-AF65-F5344CB8AC3E}">
        <p14:creationId xmlns:p14="http://schemas.microsoft.com/office/powerpoint/2010/main" val="107690025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B9856B-59C0-4DAD-9675-81A8C4CD4494}"/>
              </a:ext>
            </a:extLst>
          </p:cNvPr>
          <p:cNvSpPr>
            <a:spLocks xmlns:a="http://schemas.openxmlformats.org/drawingml/2006/main" noGrp="1"/>
          </p:cNvSpPr>
          <p:nvPr/>
        </p:nvSpPr>
        <p:spPr>
          <a:xfrm xmlns:a="http://schemas.openxmlformats.org/drawingml/2006/main">
            <a:off x="685800" y="4572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7365D"/>
                </a:solidFill>
              </a:defRPr>
            </a:pPr>
            <a:r>
              <a:rPr sz="2925" b="1">
                <a:solidFill>
                  <a:srgbClr val="17365D"/>
                </a:solidFill>
              </a:rPr>
              <a:t>Logistic Regression wins in all four model tracks</a:t>
            </a:r>
          </a:p>
        </p:txBody>
      </p:sp>
      <p:sp>
        <p:nvSpPr>
          <p:cNvPr id="2" name="">
            <a:extLst xmlns:a="http://schemas.openxmlformats.org/drawingml/2006/main">
              <a:ext uri="{FF2B5EF4-FFF2-40B4-BE49-F238E27FC236}">
                <a16:creationId xmlns:a16="http://schemas.microsoft.com/office/drawing/2014/main" id="{3ADB2579-3261-4FE9-96C1-6D409CC6B033}"/>
              </a:ext>
            </a:extLst>
          </p:cNvPr>
          <p:cNvSpPr>
            <a:spLocks xmlns:a="http://schemas.openxmlformats.org/drawingml/2006/main" noGrp="1"/>
          </p:cNvSpPr>
          <p:nvPr/>
        </p:nvSpPr>
        <p:spPr>
          <a:xfrm xmlns:a="http://schemas.openxmlformats.org/drawingml/2006/main">
            <a:off x="685800" y="10668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64748B"/>
                </a:solidFill>
              </a:defRPr>
            </a:pPr>
            <a:r>
              <a:rPr sz="1350" b="0">
                <a:solidFill>
                  <a:srgbClr val="64748B"/>
                </a:solidFill>
              </a:rPr>
              <a:t>Lower log loss is better; the test ranking confirms the validation choice.</a:t>
            </a:r>
          </a:p>
        </p:txBody>
      </p:sp>
      <p:sp>
        <p:nvSpPr>
          <p:cNvPr id="3" name="">
            <a:extLst xmlns:a="http://schemas.openxmlformats.org/drawingml/2006/main">
              <a:ext uri="{FF2B5EF4-FFF2-40B4-BE49-F238E27FC236}">
                <a16:creationId xmlns:a16="http://schemas.microsoft.com/office/drawing/2014/main" id="{C4ECB4FC-3754-450D-90D7-3B2C8C5D54CC}"/>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graphicFrame>
        <p:nvGraphicFramePr>
          <p:cNvPr id="10" name="Chart"/>
          <p:cNvGraphicFramePr/>
          <p:nvPr/>
        </p:nvGraphicFramePr>
        <p:xfrm>
          <a:off xmlns:a="http://schemas.openxmlformats.org/drawingml/2006/main" x="781050" y="1952625"/>
          <a:ext xmlns:a="http://schemas.openxmlformats.org/drawingml/2006/main" cx="7239000" cy="3619500"/>
        </p:xfrm>
        <a:graphic xmlns:a="http://schemas.openxmlformats.org/drawingml/2006/main">
          <a:graphicData uri="http://schemas.openxmlformats.org/drawingml/2006/chart">
            <c:chart xmlns:r="http://schemas.openxmlformats.org/officeDocument/2006/relationships" xmlns:c="http://schemas.openxmlformats.org/drawingml/2006/chart" r:id="Re08344ef5e9447b7"/>
          </a:graphicData>
        </a:graphic>
      </p:graphicFrame>
      <p:sp>
        <p:nvSpPr>
          <p:cNvPr id="5" name="">
            <a:extLst xmlns:a="http://schemas.openxmlformats.org/drawingml/2006/main">
              <a:ext uri="{FF2B5EF4-FFF2-40B4-BE49-F238E27FC236}">
                <a16:creationId xmlns:a16="http://schemas.microsoft.com/office/drawing/2014/main" id="{752219B1-6B2B-4A37-8006-A79422742710}"/>
              </a:ext>
            </a:extLst>
          </p:cNvPr>
          <p:cNvSpPr>
            <a:spLocks xmlns:a="http://schemas.openxmlformats.org/drawingml/2006/main" noGrp="1"/>
          </p:cNvSpPr>
          <p:nvPr/>
        </p:nvSpPr>
        <p:spPr>
          <a:xfrm xmlns:a="http://schemas.openxmlformats.org/drawingml/2006/main">
            <a:off x="8572500" y="2238375"/>
            <a:ext cx="2524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7365D"/>
                </a:solidFill>
              </a:defRPr>
            </a:pPr>
            <a:r>
              <a:rPr sz="1875" b="1">
                <a:solidFill>
                  <a:srgbClr val="17365D"/>
                </a:solidFill>
              </a:rPr>
              <a:t>Selection conclusion</a:t>
            </a:r>
          </a:p>
        </p:txBody>
      </p:sp>
      <p:sp>
        <p:nvSpPr>
          <p:cNvPr id="6" name="">
            <a:extLst xmlns:a="http://schemas.openxmlformats.org/drawingml/2006/main">
              <a:ext uri="{FF2B5EF4-FFF2-40B4-BE49-F238E27FC236}">
                <a16:creationId xmlns:a16="http://schemas.microsoft.com/office/drawing/2014/main" id="{E8BE2DCE-0405-407F-8A8C-017E8F9092F8}"/>
              </a:ext>
            </a:extLst>
          </p:cNvPr>
          <p:cNvSpPr>
            <a:spLocks xmlns:a="http://schemas.openxmlformats.org/drawingml/2006/main" noGrp="1"/>
          </p:cNvSpPr>
          <p:nvPr/>
        </p:nvSpPr>
        <p:spPr>
          <a:xfrm xmlns:a="http://schemas.openxmlformats.org/drawingml/2006/main">
            <a:off x="8572500" y="2762250"/>
            <a:ext cx="271462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0">
                <a:solidFill>
                  <a:srgbClr val="152238"/>
                </a:solidFill>
              </a:defRPr>
            </a:pPr>
            <a:r>
              <a:rPr sz="1575" b="0">
                <a:solidFill>
                  <a:srgbClr val="152238"/>
                </a:solidFill>
              </a:rPr>
              <a:t>• Lowest validation log loss in all four tracks</a:t>
            </a:r>
          </a:p>
          <a:p xmlns:a="http://schemas.openxmlformats.org/drawingml/2006/main">
            <a:r>
              <a:t/>
            </a:r>
          </a:p>
          <a:p xmlns:a="http://schemas.openxmlformats.org/drawingml/2006/main">
            <a:pPr>
              <a:defRPr sz="1575" b="0">
                <a:solidFill>
                  <a:srgbClr val="152238"/>
                </a:solidFill>
              </a:defRPr>
            </a:pPr>
            <a:r>
              <a:rPr sz="1575" b="0">
                <a:solidFill>
                  <a:srgbClr val="152238"/>
                </a:solidFill>
              </a:rPr>
              <a:t>• Lowest test log loss in all four tracks</a:t>
            </a:r>
          </a:p>
          <a:p xmlns:a="http://schemas.openxmlformats.org/drawingml/2006/main">
            <a:r>
              <a:t/>
            </a:r>
          </a:p>
          <a:p xmlns:a="http://schemas.openxmlformats.org/drawingml/2006/main">
            <a:pPr>
              <a:defRPr sz="1575" b="0">
                <a:solidFill>
                  <a:srgbClr val="152238"/>
                </a:solidFill>
              </a:defRPr>
            </a:pPr>
            <a:r>
              <a:rPr sz="1575" b="0">
                <a:solidFill>
                  <a:srgbClr val="152238"/>
                </a:solidFill>
              </a:rPr>
              <a:t>• Selected model for the next stage: Logistic Regression</a:t>
            </a:r>
          </a:p>
        </p:txBody>
      </p:sp>
    </p:spTree>
    <p:extLst>
      <p:ext uri="{BB962C8B-B14F-4D97-AF65-F5344CB8AC3E}">
        <p14:creationId xmlns:p14="http://schemas.microsoft.com/office/powerpoint/2010/main" val="132998820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203D36-3842-4F80-9ACB-1B872B2D52B3}"/>
              </a:ext>
            </a:extLst>
          </p:cNvPr>
          <p:cNvSpPr>
            <a:spLocks xmlns:a="http://schemas.openxmlformats.org/drawingml/2006/main" noGrp="1"/>
          </p:cNvSpPr>
          <p:nvPr/>
        </p:nvSpPr>
        <p:spPr>
          <a:xfrm xmlns:a="http://schemas.openxmlformats.org/drawingml/2006/main">
            <a:off x="685800" y="4572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7365D"/>
                </a:solidFill>
              </a:defRPr>
            </a:pPr>
            <a:r>
              <a:rPr sz="2925" b="1">
                <a:solidFill>
                  <a:srgbClr val="17365D"/>
                </a:solidFill>
              </a:rPr>
              <a:t>Current status: a reproducible win-probability foundation</a:t>
            </a:r>
          </a:p>
        </p:txBody>
      </p:sp>
      <p:sp>
        <p:nvSpPr>
          <p:cNvPr id="2" name="">
            <a:extLst xmlns:a="http://schemas.openxmlformats.org/drawingml/2006/main">
              <a:ext uri="{FF2B5EF4-FFF2-40B4-BE49-F238E27FC236}">
                <a16:creationId xmlns:a16="http://schemas.microsoft.com/office/drawing/2014/main" id="{A3C5550E-9680-4420-BD5A-29AB12C0F2FE}"/>
              </a:ext>
            </a:extLst>
          </p:cNvPr>
          <p:cNvSpPr>
            <a:spLocks xmlns:a="http://schemas.openxmlformats.org/drawingml/2006/main" noGrp="1"/>
          </p:cNvSpPr>
          <p:nvPr/>
        </p:nvSpPr>
        <p:spPr>
          <a:xfrm xmlns:a="http://schemas.openxmlformats.org/drawingml/2006/main">
            <a:off x="685800" y="10668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64748B"/>
                </a:solidFill>
              </a:defRPr>
            </a:pPr>
            <a:r>
              <a:rPr sz="1350" b="0">
                <a:solidFill>
                  <a:srgbClr val="64748B"/>
                </a:solidFill>
              </a:rPr>
              <a:t>The next stage will translate probability movement into player-level NWC.</a:t>
            </a:r>
          </a:p>
        </p:txBody>
      </p:sp>
      <p:sp>
        <p:nvSpPr>
          <p:cNvPr id="3" name="">
            <a:extLst xmlns:a="http://schemas.openxmlformats.org/drawingml/2006/main">
              <a:ext uri="{FF2B5EF4-FFF2-40B4-BE49-F238E27FC236}">
                <a16:creationId xmlns:a16="http://schemas.microsoft.com/office/drawing/2014/main" id="{B6824DA1-2E32-46A5-88AF-C7F541FF9854}"/>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29B4F1-30B7-4344-BAC1-59D28E44D437}"/>
              </a:ext>
            </a:extLst>
          </p:cNvPr>
          <p:cNvSpPr>
            <a:spLocks xmlns:a="http://schemas.openxmlformats.org/drawingml/2006/main" noGrp="1"/>
          </p:cNvSpPr>
          <p:nvPr/>
        </p:nvSpPr>
        <p:spPr>
          <a:xfrm xmlns:a="http://schemas.openxmlformats.org/drawingml/2006/main">
            <a:off x="857250" y="21907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365D"/>
                </a:solidFill>
              </a:defRPr>
            </a:pPr>
            <a:r>
              <a:rPr sz="2025" b="1">
                <a:solidFill>
                  <a:srgbClr val="17365D"/>
                </a:solidFill>
              </a:rPr>
              <a:t>Completed</a:t>
            </a:r>
          </a:p>
        </p:txBody>
      </p:sp>
      <p:sp>
        <p:nvSpPr>
          <p:cNvPr id="5" name="">
            <a:extLst xmlns:a="http://schemas.openxmlformats.org/drawingml/2006/main">
              <a:ext uri="{FF2B5EF4-FFF2-40B4-BE49-F238E27FC236}">
                <a16:creationId xmlns:a16="http://schemas.microsoft.com/office/drawing/2014/main" id="{B2E11DC7-DD85-4A00-AB19-3100DFE0A2E8}"/>
              </a:ext>
            </a:extLst>
          </p:cNvPr>
          <p:cNvSpPr>
            <a:spLocks xmlns:a="http://schemas.openxmlformats.org/drawingml/2006/main" noGrp="1"/>
          </p:cNvSpPr>
          <p:nvPr/>
        </p:nvSpPr>
        <p:spPr>
          <a:xfrm xmlns:a="http://schemas.openxmlformats.org/drawingml/2006/main">
            <a:off x="857250" y="276225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52238"/>
                </a:solidFill>
              </a:defRPr>
            </a:pPr>
            <a:r>
              <a:rPr sz="1725" b="0">
                <a:solidFill>
                  <a:srgbClr val="152238"/>
                </a:solidFill>
              </a:rPr>
              <a:t>✓ Audited event stream</a:t>
            </a:r>
          </a:p>
          <a:p xmlns:a="http://schemas.openxmlformats.org/drawingml/2006/main">
            <a:pPr>
              <a:defRPr sz="1725" b="0">
                <a:solidFill>
                  <a:srgbClr val="152238"/>
                </a:solidFill>
              </a:defRPr>
            </a:pPr>
            <a:r>
              <a:rPr sz="1725" b="0">
                <a:solidFill>
                  <a:srgbClr val="152238"/>
                </a:solidFill>
              </a:rPr>
              <a:t>✓ Four safe feature tracks</a:t>
            </a:r>
          </a:p>
          <a:p xmlns:a="http://schemas.openxmlformats.org/drawingml/2006/main">
            <a:pPr>
              <a:defRPr sz="1725" b="0">
                <a:solidFill>
                  <a:srgbClr val="152238"/>
                </a:solidFill>
              </a:defRPr>
            </a:pPr>
            <a:r>
              <a:rPr sz="1725" b="0">
                <a:solidFill>
                  <a:srgbClr val="152238"/>
                </a:solidFill>
              </a:rPr>
              <a:t>✓ Strict historical timing</a:t>
            </a:r>
          </a:p>
          <a:p xmlns:a="http://schemas.openxmlformats.org/drawingml/2006/main">
            <a:pPr>
              <a:defRPr sz="1725" b="0">
                <a:solidFill>
                  <a:srgbClr val="152238"/>
                </a:solidFill>
              </a:defRPr>
            </a:pPr>
            <a:r>
              <a:rPr sz="1725" b="0">
                <a:solidFill>
                  <a:srgbClr val="152238"/>
                </a:solidFill>
              </a:rPr>
              <a:t>✓ Model comparison and selection</a:t>
            </a:r>
          </a:p>
        </p:txBody>
      </p:sp>
      <p:sp>
        <p:nvSpPr>
          <p:cNvPr id="6" name="">
            <a:extLst xmlns:a="http://schemas.openxmlformats.org/drawingml/2006/main">
              <a:ext uri="{FF2B5EF4-FFF2-40B4-BE49-F238E27FC236}">
                <a16:creationId xmlns:a16="http://schemas.microsoft.com/office/drawing/2014/main" id="{50CB5D29-ADCB-4366-A9C4-114C9EEC9AEE}"/>
              </a:ext>
            </a:extLst>
          </p:cNvPr>
          <p:cNvSpPr>
            <a:spLocks xmlns:a="http://schemas.openxmlformats.org/drawingml/2006/main" noGrp="1"/>
          </p:cNvSpPr>
          <p:nvPr/>
        </p:nvSpPr>
        <p:spPr>
          <a:xfrm xmlns:a="http://schemas.openxmlformats.org/drawingml/2006/main">
            <a:off x="6858000" y="21907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365D"/>
                </a:solidFill>
              </a:defRPr>
            </a:pPr>
            <a:r>
              <a:rPr sz="2025" b="1">
                <a:solidFill>
                  <a:srgbClr val="17365D"/>
                </a:solidFill>
              </a:rPr>
              <a:t>Next</a:t>
            </a:r>
          </a:p>
        </p:txBody>
      </p:sp>
      <p:sp>
        <p:nvSpPr>
          <p:cNvPr id="7" name="">
            <a:extLst xmlns:a="http://schemas.openxmlformats.org/drawingml/2006/main">
              <a:ext uri="{FF2B5EF4-FFF2-40B4-BE49-F238E27FC236}">
                <a16:creationId xmlns:a16="http://schemas.microsoft.com/office/drawing/2014/main" id="{C8760D65-DFF0-4096-8912-60CA859EE5FB}"/>
              </a:ext>
            </a:extLst>
          </p:cNvPr>
          <p:cNvSpPr>
            <a:spLocks xmlns:a="http://schemas.openxmlformats.org/drawingml/2006/main" noGrp="1"/>
          </p:cNvSpPr>
          <p:nvPr/>
        </p:nvSpPr>
        <p:spPr>
          <a:xfrm xmlns:a="http://schemas.openxmlformats.org/drawingml/2006/main">
            <a:off x="6858000" y="2762250"/>
            <a:ext cx="409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52238"/>
                </a:solidFill>
              </a:defRPr>
            </a:pPr>
            <a:r>
              <a:rPr sz="1800" b="1">
                <a:solidFill>
                  <a:srgbClr val="152238"/>
                </a:solidFill>
              </a:rPr>
              <a:t>Use consecutive selected probabilities</a:t>
            </a:r>
          </a:p>
          <a:p xmlns:a="http://schemas.openxmlformats.org/drawingml/2006/main">
            <a:pPr>
              <a:defRPr sz="1800" b="1">
                <a:solidFill>
                  <a:srgbClr val="152238"/>
                </a:solidFill>
              </a:defRPr>
            </a:pPr>
            <a:r>
              <a:rPr sz="1800" b="1">
                <a:solidFill>
                  <a:srgbClr val="152238"/>
                </a:solidFill>
              </a:rPr>
              <a:t>to calculate each delivery’s</a:t>
            </a:r>
          </a:p>
          <a:p xmlns:a="http://schemas.openxmlformats.org/drawingml/2006/main">
            <a:pPr>
              <a:defRPr sz="1800" b="1">
                <a:solidFill>
                  <a:srgbClr val="152238"/>
                </a:solidFill>
              </a:defRPr>
            </a:pPr>
            <a:r>
              <a:rPr sz="1800" b="1">
                <a:solidFill>
                  <a:srgbClr val="152238"/>
                </a:solidFill>
              </a:rPr>
              <a:t>Net Win Contribution.</a:t>
            </a:r>
          </a:p>
        </p:txBody>
      </p:sp>
      <p:sp>
        <p:nvSpPr>
          <p:cNvPr id="8" name="">
            <a:extLst xmlns:a="http://schemas.openxmlformats.org/drawingml/2006/main">
              <a:ext uri="{FF2B5EF4-FFF2-40B4-BE49-F238E27FC236}">
                <a16:creationId xmlns:a16="http://schemas.microsoft.com/office/drawing/2014/main" id="{FD0B2738-DB14-4FF0-824E-72D4CB2C0637}"/>
              </a:ext>
            </a:extLst>
          </p:cNvPr>
          <p:cNvSpPr>
            <a:spLocks xmlns:a="http://schemas.openxmlformats.org/drawingml/2006/main" noGrp="1"/>
          </p:cNvSpPr>
          <p:nvPr/>
        </p:nvSpPr>
        <p:spPr>
          <a:xfrm xmlns:a="http://schemas.openxmlformats.org/drawingml/2006/main">
            <a:off x="857250" y="5095875"/>
            <a:ext cx="99060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BED337A-F0BA-41BC-8201-CA0727B95BD2}"/>
              </a:ext>
            </a:extLst>
          </p:cNvPr>
          <p:cNvSpPr>
            <a:spLocks xmlns:a="http://schemas.openxmlformats.org/drawingml/2006/main" noGrp="1"/>
          </p:cNvSpPr>
          <p:nvPr/>
        </p:nvSpPr>
        <p:spPr>
          <a:xfrm xmlns:a="http://schemas.openxmlformats.org/drawingml/2006/main">
            <a:off x="857250" y="5429250"/>
            <a:ext cx="981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7365D"/>
                </a:solidFill>
              </a:defRPr>
            </a:pPr>
            <a:r>
              <a:rPr sz="1875" b="1">
                <a:solidFill>
                  <a:srgbClr val="17365D"/>
                </a:solidFill>
              </a:rPr>
              <a:t>Key message: the model is ready for transparent, ball-by-ball attribution.</a:t>
            </a:r>
          </a:p>
        </p:txBody>
      </p:sp>
    </p:spTree>
    <p:extLst>
      <p:ext uri="{BB962C8B-B14F-4D97-AF65-F5344CB8AC3E}">
        <p14:creationId xmlns:p14="http://schemas.microsoft.com/office/powerpoint/2010/main" val="10753698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2026-08-31T05:28:47.2900000Z</dcterms:created>
  <dcterms:modified xsi:type="dcterms:W3CDTF">2026-08-31T05:28:47.2900000Z</dcterms:modified>
</coreProperties>
</file>